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437" r:id="rId3"/>
    <p:sldId id="258" r:id="rId4"/>
    <p:sldId id="259" r:id="rId5"/>
    <p:sldId id="271" r:id="rId6"/>
    <p:sldId id="444" r:id="rId7"/>
    <p:sldId id="454" r:id="rId8"/>
    <p:sldId id="453" r:id="rId9"/>
    <p:sldId id="426" r:id="rId10"/>
    <p:sldId id="459" r:id="rId11"/>
    <p:sldId id="460" r:id="rId12"/>
    <p:sldId id="461" r:id="rId13"/>
    <p:sldId id="440" r:id="rId14"/>
    <p:sldId id="441" r:id="rId15"/>
    <p:sldId id="442" r:id="rId16"/>
    <p:sldId id="423" r:id="rId17"/>
    <p:sldId id="448" r:id="rId18"/>
    <p:sldId id="464" r:id="rId19"/>
    <p:sldId id="462" r:id="rId20"/>
    <p:sldId id="463" r:id="rId21"/>
    <p:sldId id="429" r:id="rId22"/>
    <p:sldId id="455" r:id="rId23"/>
    <p:sldId id="431" r:id="rId24"/>
    <p:sldId id="451" r:id="rId25"/>
    <p:sldId id="465" r:id="rId26"/>
    <p:sldId id="466" r:id="rId27"/>
    <p:sldId id="432" r:id="rId28"/>
    <p:sldId id="467" r:id="rId29"/>
    <p:sldId id="468" r:id="rId30"/>
    <p:sldId id="433" r:id="rId31"/>
    <p:sldId id="270" r:id="rId32"/>
  </p:sldIdLst>
  <p:sldSz cx="12192000" cy="6858000"/>
  <p:notesSz cx="6761163" cy="99425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iRs8jnCq7dUwYbkcHa2SHPnCa0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29761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968058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9202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23E4C-C78F-4806-9F29-9550DE44BB4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541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8940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9582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2C4A9B54-79C1-B625-70A3-C8730BA33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>
            <a:extLst>
              <a:ext uri="{FF2B5EF4-FFF2-40B4-BE49-F238E27FC236}">
                <a16:creationId xmlns:a16="http://schemas.microsoft.com/office/drawing/2014/main" id="{CC8C8747-7D56-E8F8-86AA-49D17726D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>
            <a:extLst>
              <a:ext uri="{FF2B5EF4-FFF2-40B4-BE49-F238E27FC236}">
                <a16:creationId xmlns:a16="http://schemas.microsoft.com/office/drawing/2014/main" id="{A08AD0F3-D593-BF47-5EC0-FF359F48BE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6648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23E4C-C78F-4806-9F29-9550DE44BB40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590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B7782-AD13-6FB5-B632-9510BBC5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859506-9FD8-9F05-55AB-0A78C246F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E2900-B9EE-B9DC-05EC-FE91EE352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9882B-8869-1B17-8915-AD0130B9D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23E4C-C78F-4806-9F29-9550DE44BB40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693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F0C24-C5DD-259D-8451-44B5A5AEE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491F23-1B03-E207-3AA5-172AE94C6F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CD83F-FAD5-503B-FD17-5B6A69592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45AA7-F8A2-D079-8AC3-4AA7261C6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23E4C-C78F-4806-9F29-9550DE44BB40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34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23E4C-C78F-4806-9F29-9550DE44BB40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690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7746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body" idx="1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/>
          <p:nvPr/>
        </p:nvSpPr>
        <p:spPr>
          <a:xfrm>
            <a:off x="5055596" y="6405140"/>
            <a:ext cx="2080806" cy="2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00" rIns="0" bIns="0" anchor="t" anchorCtr="0">
            <a:spAutoFit/>
          </a:bodyPr>
          <a:lstStyle/>
          <a:p>
            <a:pPr marL="7701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1" u="none" strike="noStrike" cap="none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sz="1400" b="1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18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-1" y="76427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ctrTitle"/>
          </p:nvPr>
        </p:nvSpPr>
        <p:spPr>
          <a:xfrm>
            <a:off x="1524000" y="119531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Bookman Old Style"/>
              <a:buNone/>
              <a:defRPr sz="60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  <a:defRPr sz="2400">
                <a:solidFill>
                  <a:srgbClr val="C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" name="Google Shape;26;p19"/>
          <p:cNvSpPr txBox="1"/>
          <p:nvPr/>
        </p:nvSpPr>
        <p:spPr>
          <a:xfrm>
            <a:off x="4541263" y="6344368"/>
            <a:ext cx="3498933" cy="3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00" rIns="0" bIns="0" anchor="t" anchorCtr="0">
            <a:spAutoFit/>
          </a:bodyPr>
          <a:lstStyle/>
          <a:p>
            <a:pPr marL="7701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1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sz="2400" b="1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7" name="Google Shape;27;p19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0" y="0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268942" y="1258282"/>
            <a:ext cx="5750859" cy="491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2"/>
          </p:nvPr>
        </p:nvSpPr>
        <p:spPr>
          <a:xfrm>
            <a:off x="6172202" y="1258280"/>
            <a:ext cx="5795682" cy="4918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26894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92246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33" name="Google Shape;33;p20"/>
          <p:cNvGrpSpPr/>
          <p:nvPr/>
        </p:nvGrpSpPr>
        <p:grpSpPr>
          <a:xfrm>
            <a:off x="4862837" y="6212514"/>
            <a:ext cx="2313924" cy="600635"/>
            <a:chOff x="9682912" y="8965"/>
            <a:chExt cx="2402541" cy="600635"/>
          </a:xfrm>
        </p:grpSpPr>
        <p:sp>
          <p:nvSpPr>
            <p:cNvPr id="34" name="Google Shape;34;p20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0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pic>
        <p:nvPicPr>
          <p:cNvPr id="36" name="Google Shape;36;p20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224117" y="81266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Bookman Old Style"/>
              <a:buNone/>
              <a:defRPr sz="54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43" name="Google Shape;43;p21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44" name="Google Shape;44;p21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1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22"/>
          <p:cNvGrpSpPr/>
          <p:nvPr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48" name="Google Shape;48;p22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w="76200" cap="flat" cmpd="sng">
              <a:solidFill>
                <a:srgbClr val="0058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" name="Google Shape;49;p22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50" name="Google Shape;50;p22"/>
              <p:cNvSpPr/>
              <p:nvPr/>
            </p:nvSpPr>
            <p:spPr>
              <a:xfrm>
                <a:off x="1" y="0"/>
                <a:ext cx="995082" cy="663388"/>
              </a:xfrm>
              <a:custGeom>
                <a:avLst/>
                <a:gdLst/>
                <a:ahLst/>
                <a:cxnLst/>
                <a:rect l="l" t="t" r="r" b="b"/>
                <a:pathLst>
                  <a:path w="7436484" h="5134610" extrusionOk="0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2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839789" y="2505076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body" idx="3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4"/>
          </p:nvPr>
        </p:nvSpPr>
        <p:spPr>
          <a:xfrm>
            <a:off x="6172202" y="2505076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60" name="Google Shape;60;p22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61" name="Google Shape;61;p22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2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/>
          <p:nvPr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8823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3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69" name="Google Shape;69;p23"/>
          <p:cNvGrpSpPr/>
          <p:nvPr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70" name="Google Shape;70;p23"/>
            <p:cNvSpPr/>
            <p:nvPr/>
          </p:nvSpPr>
          <p:spPr>
            <a:xfrm>
              <a:off x="1" y="0"/>
              <a:ext cx="995082" cy="663388"/>
            </a:xfrm>
            <a:custGeom>
              <a:avLst/>
              <a:gdLst/>
              <a:ahLst/>
              <a:cxnLst/>
              <a:rect l="l" t="t" r="r" b="b"/>
              <a:pathLst>
                <a:path w="7436484" h="5134610" extrusionOk="0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3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72;p23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73" name="Google Shape;73;p23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3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/>
          <p:nvPr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8823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80" name="Google Shape;80;p24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81" name="Google Shape;81;p24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4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grpSp>
        <p:nvGrpSpPr>
          <p:cNvPr id="83" name="Google Shape;83;p24"/>
          <p:cNvGrpSpPr/>
          <p:nvPr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84" name="Google Shape;84;p24"/>
            <p:cNvSpPr/>
            <p:nvPr/>
          </p:nvSpPr>
          <p:spPr>
            <a:xfrm>
              <a:off x="1" y="0"/>
              <a:ext cx="995082" cy="663388"/>
            </a:xfrm>
            <a:custGeom>
              <a:avLst/>
              <a:gdLst/>
              <a:ahLst/>
              <a:cxnLst/>
              <a:rect l="l" t="t" r="r" b="b"/>
              <a:pathLst>
                <a:path w="7436484" h="5134610" extrusionOk="0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4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6" name="Google Shape;8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1096" y="1605964"/>
            <a:ext cx="5889812" cy="36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5"/>
          <p:cNvGrpSpPr/>
          <p:nvPr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89" name="Google Shape;89;p25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w="76200" cap="flat" cmpd="sng">
              <a:solidFill>
                <a:srgbClr val="0058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25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91" name="Google Shape;91;p25"/>
              <p:cNvSpPr/>
              <p:nvPr/>
            </p:nvSpPr>
            <p:spPr>
              <a:xfrm>
                <a:off x="1" y="0"/>
                <a:ext cx="995082" cy="663388"/>
              </a:xfrm>
              <a:custGeom>
                <a:avLst/>
                <a:gdLst/>
                <a:ahLst/>
                <a:cxnLst/>
                <a:rect l="l" t="t" r="r" b="b"/>
                <a:pathLst>
                  <a:path w="7436484" h="5134610" extrusionOk="0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25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" name="Google Shape;93;p25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body" idx="2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99" name="Google Shape;99;p25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100" name="Google Shape;100;p25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5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6"/>
          <p:cNvSpPr txBox="1">
            <a:spLocks noGrp="1"/>
          </p:cNvSpPr>
          <p:nvPr>
            <p:ph type="body" idx="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body" idx="1"/>
          </p:nvPr>
        </p:nvSpPr>
        <p:spPr>
          <a:xfrm rot="5400000">
            <a:off x="3920333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>
            <a:spLocks noGrp="1"/>
          </p:cNvSpPr>
          <p:nvPr>
            <p:ph type="title"/>
          </p:nvPr>
        </p:nvSpPr>
        <p:spPr>
          <a:xfrm rot="5400000">
            <a:off x="7133430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8"/>
          <p:cNvSpPr txBox="1">
            <a:spLocks noGrp="1"/>
          </p:cNvSpPr>
          <p:nvPr>
            <p:ph type="body" idx="1"/>
          </p:nvPr>
        </p:nvSpPr>
        <p:spPr>
          <a:xfrm rot="5400000">
            <a:off x="1799430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8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8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pic>
        <p:nvPicPr>
          <p:cNvPr id="127" name="Google Shape;127;p1" descr="A building with a roof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21879" y="1067010"/>
            <a:ext cx="11421075" cy="389408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8" name="Google Shape;128;p1"/>
          <p:cNvSpPr/>
          <p:nvPr/>
        </p:nvSpPr>
        <p:spPr>
          <a:xfrm>
            <a:off x="349046" y="4221512"/>
            <a:ext cx="11493908" cy="116249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3600" b="1" dirty="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Gravity-Driven Mechanical Energy Storage for Renewable Integration</a:t>
            </a:r>
            <a:endParaRPr dirty="0"/>
          </a:p>
        </p:txBody>
      </p:sp>
      <p:sp>
        <p:nvSpPr>
          <p:cNvPr id="129" name="Google Shape;129;p1"/>
          <p:cNvSpPr/>
          <p:nvPr/>
        </p:nvSpPr>
        <p:spPr>
          <a:xfrm>
            <a:off x="349046" y="5495812"/>
            <a:ext cx="11493908" cy="79758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dirty="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Civil Cluster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889F6E-2644-470A-09AE-09617FF74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11D0B-A497-CCEB-18F3-DF0DC6D1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7D65D47-7027-ADE3-D340-A4D5404FDE4B}"/>
              </a:ext>
            </a:extLst>
          </p:cNvPr>
          <p:cNvSpPr txBox="1">
            <a:spLocks/>
          </p:cNvSpPr>
          <p:nvPr/>
        </p:nvSpPr>
        <p:spPr>
          <a:xfrm>
            <a:off x="2260414" y="132522"/>
            <a:ext cx="9535245" cy="82465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3200" dirty="0"/>
              <a:t>TEAM GRAVITECH</a:t>
            </a:r>
            <a:endParaRPr lang="en-IN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573A078-BA93-071D-8183-CC619DC9A598}"/>
              </a:ext>
            </a:extLst>
          </p:cNvPr>
          <p:cNvSpPr txBox="1">
            <a:spLocks/>
          </p:cNvSpPr>
          <p:nvPr/>
        </p:nvSpPr>
        <p:spPr>
          <a:xfrm>
            <a:off x="259791" y="4608478"/>
            <a:ext cx="4001246" cy="16761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dirty="0"/>
              <a:t>Dr. Praveen Kumar Gupta</a:t>
            </a:r>
          </a:p>
          <a:p>
            <a:r>
              <a:rPr lang="en-IN" sz="1800" b="0" dirty="0"/>
              <a:t>Assistant Professor,</a:t>
            </a:r>
            <a:endParaRPr lang="en-IN" sz="1800" dirty="0"/>
          </a:p>
          <a:p>
            <a:r>
              <a:rPr lang="en-IN" sz="2000" dirty="0"/>
              <a:t>Biotechnology Dept.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03184B-6F82-4343-8627-4FF35796F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640" y="1871656"/>
            <a:ext cx="2217549" cy="28468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E62022-EAB9-4EAB-AC9D-1A2F6B2D6BAD}"/>
              </a:ext>
            </a:extLst>
          </p:cNvPr>
          <p:cNvSpPr txBox="1"/>
          <p:nvPr/>
        </p:nvSpPr>
        <p:spPr>
          <a:xfrm>
            <a:off x="5114065" y="2325586"/>
            <a:ext cx="63835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2C75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Team Members :-</a:t>
            </a:r>
          </a:p>
          <a:p>
            <a:r>
              <a:rPr lang="en-US" sz="2400" b="1" dirty="0">
                <a:solidFill>
                  <a:srgbClr val="422C75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1.Vijay S </a:t>
            </a:r>
            <a:r>
              <a:rPr lang="en-US" sz="2400" b="1" dirty="0" err="1">
                <a:solidFill>
                  <a:srgbClr val="422C75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Halagi</a:t>
            </a:r>
            <a:r>
              <a:rPr lang="en-US" sz="2400" b="1" dirty="0">
                <a:solidFill>
                  <a:srgbClr val="422C75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     - 1RV24CH041</a:t>
            </a:r>
          </a:p>
          <a:p>
            <a:r>
              <a:rPr lang="en-US" sz="2400" b="1" dirty="0">
                <a:solidFill>
                  <a:srgbClr val="422C75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2. Aryan Lodha       - 1RV24IM064</a:t>
            </a:r>
          </a:p>
          <a:p>
            <a:r>
              <a:rPr lang="en-US" sz="2400" b="1" dirty="0">
                <a:solidFill>
                  <a:srgbClr val="422C75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3. Amith B               - 1RV24CV005</a:t>
            </a:r>
          </a:p>
          <a:p>
            <a:r>
              <a:rPr lang="en-US" sz="2400" b="1" dirty="0">
                <a:solidFill>
                  <a:srgbClr val="422C75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4. Shashank Joga   - 1RV24CV049</a:t>
            </a:r>
            <a:endParaRPr lang="en-US" sz="2400" b="1" dirty="0">
              <a:solidFill>
                <a:schemeClr val="accent3">
                  <a:lumMod val="40000"/>
                  <a:lumOff val="60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FB6F0-4E5F-903A-7712-5ABA4184A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679" y="1506789"/>
            <a:ext cx="3199407" cy="319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94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2339498" y="178833"/>
            <a:ext cx="8551282" cy="63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2182762" y="89747"/>
            <a:ext cx="8151863" cy="131995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dirty="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EL Phase-II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dirty="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Presentation Outline</a:t>
            </a:r>
            <a:endParaRPr dirty="0"/>
          </a:p>
        </p:txBody>
      </p:sp>
      <p:sp>
        <p:nvSpPr>
          <p:cNvPr id="145" name="Google Shape;145;p4"/>
          <p:cNvSpPr txBox="1">
            <a:spLocks noGrp="1"/>
          </p:cNvSpPr>
          <p:nvPr>
            <p:ph type="body" idx="1"/>
          </p:nvPr>
        </p:nvSpPr>
        <p:spPr>
          <a:xfrm>
            <a:off x="575733" y="1666874"/>
            <a:ext cx="11441457" cy="4510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Introduction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Literature Review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Problem Definition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Objectives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Methodology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Proposed Outcomes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Timeline of the project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Conclusion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References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 txBox="1">
            <a:spLocks noGrp="1"/>
          </p:cNvSpPr>
          <p:nvPr>
            <p:ph type="body" idx="1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IN" b="1" dirty="0"/>
              <a:t>Gravitational Battery – Overview</a:t>
            </a:r>
          </a:p>
          <a:p>
            <a:pPr marL="0" lvl="0" indent="0">
              <a:spcBef>
                <a:spcPts val="0"/>
              </a:spcBef>
              <a:buNone/>
            </a:pPr>
            <a:endParaRPr lang="en-IN" b="1" dirty="0"/>
          </a:p>
          <a:p>
            <a:pPr indent="-457200">
              <a:spcBef>
                <a:spcPts val="0"/>
              </a:spcBef>
            </a:pPr>
            <a:r>
              <a:rPr lang="en-US" dirty="0"/>
              <a:t>Gravitational batteries are large-scale energy-storage systems that store electricity by lifting heavy masses and release energy by lowering them back down. </a:t>
            </a:r>
          </a:p>
          <a:p>
            <a:pPr indent="-457200">
              <a:spcBef>
                <a:spcPts val="0"/>
              </a:spcBef>
            </a:pPr>
            <a:r>
              <a:rPr lang="en-US" dirty="0"/>
              <a:t>The principle is simple: </a:t>
            </a:r>
            <a:r>
              <a:rPr lang="en-US" b="1" dirty="0"/>
              <a:t>Energy = Mass × Gravity × Height</a:t>
            </a:r>
            <a:r>
              <a:rPr lang="en-US" dirty="0"/>
              <a:t>.</a:t>
            </a:r>
          </a:p>
          <a:p>
            <a:pPr indent="-457200">
              <a:spcBef>
                <a:spcPts val="0"/>
              </a:spcBef>
            </a:pPr>
            <a:r>
              <a:rPr lang="en-US" dirty="0"/>
              <a:t>This technology uses solid materials (concrete blocks, steel weights, or excavated rock) instead of water or chemical reactions. </a:t>
            </a:r>
          </a:p>
          <a:p>
            <a:pPr indent="-457200">
              <a:spcBef>
                <a:spcPts val="0"/>
              </a:spcBef>
            </a:pPr>
            <a:r>
              <a:rPr lang="en-US" dirty="0"/>
              <a:t>It offers long operational life, high efficiency, and minimal environmental impact.</a:t>
            </a:r>
          </a:p>
          <a:p>
            <a:pPr indent="-457200">
              <a:spcBef>
                <a:spcPts val="0"/>
              </a:spcBef>
            </a:pPr>
            <a:endParaRPr lang="en-IN" dirty="0"/>
          </a:p>
          <a:p>
            <a:pPr marL="0" lvl="0" indent="0">
              <a:spcBef>
                <a:spcPts val="0"/>
              </a:spcBef>
              <a:buNone/>
            </a:pPr>
            <a:endParaRPr lang="en-IN" b="1" dirty="0"/>
          </a:p>
          <a:p>
            <a:pPr marL="0" lvl="0" indent="0">
              <a:spcBef>
                <a:spcPts val="0"/>
              </a:spcBef>
              <a:buNone/>
            </a:pPr>
            <a:r>
              <a:rPr lang="en-IN" b="1" dirty="0"/>
              <a:t>Gravitational batteries provide:</a:t>
            </a:r>
          </a:p>
          <a:p>
            <a:pPr marL="0" lvl="0" indent="0">
              <a:spcBef>
                <a:spcPts val="0"/>
              </a:spcBef>
              <a:buNone/>
            </a:pPr>
            <a:endParaRPr lang="en-IN" b="1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b="1" dirty="0"/>
              <a:t>Long-duration storage </a:t>
            </a:r>
            <a:r>
              <a:rPr lang="en-US" dirty="0"/>
              <a:t>for solar and wind power</a:t>
            </a:r>
          </a:p>
          <a:p>
            <a:pPr marL="228600" lvl="0" indent="-228600"/>
            <a:r>
              <a:rPr lang="en-US" dirty="0"/>
              <a:t>Fast response for </a:t>
            </a:r>
            <a:r>
              <a:rPr lang="en-US" b="1" dirty="0"/>
              <a:t>grid stability</a:t>
            </a:r>
          </a:p>
          <a:p>
            <a:pPr marL="228600" lvl="0" indent="-228600"/>
            <a:r>
              <a:rPr lang="en-US" b="1" dirty="0"/>
              <a:t>Very low degradation </a:t>
            </a:r>
            <a:r>
              <a:rPr lang="en-US" dirty="0"/>
              <a:t>over decades</a:t>
            </a:r>
          </a:p>
          <a:p>
            <a:pPr marL="228600" lvl="0" indent="-228600"/>
            <a:r>
              <a:rPr lang="en-US" b="1" dirty="0"/>
              <a:t>Safety</a:t>
            </a:r>
            <a:r>
              <a:rPr lang="en-US" dirty="0"/>
              <a:t>, with no chemical or fire risks</a:t>
            </a:r>
            <a:endParaRPr dirty="0"/>
          </a:p>
        </p:txBody>
      </p:sp>
      <p:sp>
        <p:nvSpPr>
          <p:cNvPr id="152" name="Google Shape;152;p5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Slide No. </a:t>
            </a:r>
            <a:fld id="{00000000-1234-1234-1234-123412341234}" type="slidenum">
              <a:rPr lang="en-IN"/>
              <a:t>4</a:t>
            </a:fld>
            <a:endParaRPr dirty="0"/>
          </a:p>
        </p:txBody>
      </p:sp>
      <p:sp>
        <p:nvSpPr>
          <p:cNvPr id="153" name="Google Shape;153;p5"/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sz="4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699A3708-262E-6FB3-4EFF-2810A080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6CFF7ABC-3B09-E0D7-69D4-4E9FEC8FFC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b="1" dirty="0"/>
              <a:t>Importance of the topic:</a:t>
            </a:r>
          </a:p>
          <a:p>
            <a:pPr marL="0" indent="0">
              <a:spcBef>
                <a:spcPts val="0"/>
              </a:spcBef>
              <a:buNone/>
            </a:pPr>
            <a:endParaRPr lang="en-IN" b="1" dirty="0"/>
          </a:p>
          <a:p>
            <a:pPr indent="-457200">
              <a:spcBef>
                <a:spcPts val="0"/>
              </a:spcBef>
            </a:pPr>
            <a:r>
              <a:rPr lang="en-US" dirty="0"/>
              <a:t>The world will require 8–10 times more storage by 2040 compared to today (IEA).</a:t>
            </a:r>
          </a:p>
          <a:p>
            <a:pPr indent="-457200">
              <a:spcBef>
                <a:spcPts val="0"/>
              </a:spcBef>
            </a:pPr>
            <a:r>
              <a:rPr lang="en-US" dirty="0"/>
              <a:t>Lithium-ion batteries provide only 2–4 hours of affordable storage and degrade over time.</a:t>
            </a:r>
          </a:p>
          <a:p>
            <a:pPr indent="-457200">
              <a:spcBef>
                <a:spcPts val="0"/>
              </a:spcBef>
            </a:pPr>
            <a:r>
              <a:rPr lang="en-US" dirty="0"/>
              <a:t>70% of global renewable curtailment (wasted solar/wind energy) occurs because grids lack storage capacity.</a:t>
            </a:r>
          </a:p>
          <a:p>
            <a:pPr indent="-457200">
              <a:spcBef>
                <a:spcPts val="0"/>
              </a:spcBef>
            </a:pPr>
            <a:r>
              <a:rPr lang="en-US" dirty="0"/>
              <a:t>This is where gravitational batteries become important.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 </a:t>
            </a:r>
            <a:r>
              <a:rPr lang="en-US" dirty="0"/>
              <a:t>They offer: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  </a:t>
            </a:r>
            <a:endParaRPr lang="en-US" dirty="0"/>
          </a:p>
          <a:p>
            <a:pPr indent="-457200">
              <a:spcBef>
                <a:spcPts val="0"/>
              </a:spcBef>
            </a:pPr>
            <a:r>
              <a:rPr lang="en-US" b="1" dirty="0"/>
              <a:t>High efficiency </a:t>
            </a:r>
            <a:r>
              <a:rPr lang="en-US" dirty="0"/>
              <a:t>(80–90%)</a:t>
            </a:r>
          </a:p>
          <a:p>
            <a:pPr indent="-457200">
              <a:spcBef>
                <a:spcPts val="0"/>
              </a:spcBef>
            </a:pPr>
            <a:r>
              <a:rPr lang="en-US" dirty="0"/>
              <a:t>Minimal degradation over decades</a:t>
            </a:r>
          </a:p>
          <a:p>
            <a:pPr indent="-457200">
              <a:spcBef>
                <a:spcPts val="0"/>
              </a:spcBef>
            </a:pPr>
            <a:r>
              <a:rPr lang="en-US" dirty="0"/>
              <a:t>No chemical waste, </a:t>
            </a:r>
            <a:r>
              <a:rPr lang="en-US" b="1" dirty="0"/>
              <a:t>no fire risk</a:t>
            </a:r>
          </a:p>
          <a:p>
            <a:pPr indent="-457200">
              <a:spcBef>
                <a:spcPts val="0"/>
              </a:spcBef>
            </a:pPr>
            <a:r>
              <a:rPr lang="en-US" dirty="0"/>
              <a:t>Ability to scale from tens to hundreds of </a:t>
            </a:r>
            <a:r>
              <a:rPr lang="en-US" b="1" dirty="0"/>
              <a:t>megawatt-hours</a:t>
            </a:r>
          </a:p>
          <a:p>
            <a:pPr indent="-457200">
              <a:spcBef>
                <a:spcPts val="0"/>
              </a:spcBef>
            </a:pPr>
            <a:r>
              <a:rPr lang="en-US" dirty="0"/>
              <a:t>Use of simple, abundant materials like concrete, steel, or rock</a:t>
            </a: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C8B869F8-638D-B4DB-10D4-8068D9489F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Slide No. </a:t>
            </a:r>
            <a:fld id="{00000000-1234-1234-1234-123412341234}" type="slidenum">
              <a:rPr lang="en-IN"/>
              <a:t>5</a:t>
            </a:fld>
            <a:endParaRPr dirty="0"/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4B7F019C-5A04-9C2A-E7A7-4DC946301BAD}"/>
              </a:ext>
            </a:extLst>
          </p:cNvPr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sz="4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463838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B234FB-6F1B-1AB1-B6DB-7C5C79182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13" y="1076325"/>
            <a:ext cx="11842377" cy="584309"/>
          </a:xfrm>
        </p:spPr>
        <p:txBody>
          <a:bodyPr>
            <a:normAutofit lnSpcReduction="10000"/>
          </a:bodyPr>
          <a:lstStyle/>
          <a:p>
            <a:pPr marL="50800" indent="0">
              <a:buNone/>
            </a:pPr>
            <a:r>
              <a:rPr lang="en-US" b="1" dirty="0"/>
              <a:t>The Biggest huddles for renewable  transition are: </a:t>
            </a:r>
            <a:endParaRPr lang="en-IN" sz="3200" dirty="0">
              <a:effectLst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4AB3A3-E6D2-4AD2-BD4E-F2F546885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DFEBE-E15D-B9A0-A2E5-15D6147F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F029EF-F97C-2942-1FF3-C4B6DFE8CA0E}"/>
              </a:ext>
            </a:extLst>
          </p:cNvPr>
          <p:cNvSpPr txBox="1">
            <a:spLocks/>
          </p:cNvSpPr>
          <p:nvPr/>
        </p:nvSpPr>
        <p:spPr>
          <a:xfrm>
            <a:off x="1503705" y="0"/>
            <a:ext cx="10227733" cy="1076325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3600" dirty="0"/>
              <a:t>Problem Definition</a:t>
            </a:r>
            <a:endParaRPr lang="en-IN" sz="36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4BEEB73-F33B-459F-B08D-BE7BC7FC1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643" y="1720840"/>
            <a:ext cx="1121071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Unpredictable</a:t>
            </a: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and </a:t>
            </a:r>
            <a:r>
              <a:rPr 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uncertainty</a:t>
            </a: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around renewable energy ( solar and wind).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endParaRPr lang="en-US" sz="24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A huge gap between </a:t>
            </a:r>
            <a:r>
              <a:rPr 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energy demand vs energy consumption </a:t>
            </a: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patterns.</a:t>
            </a:r>
          </a:p>
          <a:p>
            <a:pPr algn="just"/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Economics of coal power plants </a:t>
            </a: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( in order to reduce cost power plants have to run 24x7 )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à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40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B234FB-6F1B-1AB1-B6DB-7C5C79182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13" y="1076326"/>
            <a:ext cx="11842377" cy="55277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200" b="1" dirty="0"/>
              <a:t>Problem Statement: </a:t>
            </a:r>
            <a:endParaRPr lang="en-IN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4AB3A3-E6D2-4AD2-BD4E-F2F546885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DFEBE-E15D-B9A0-A2E5-15D6147F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F029EF-F97C-2942-1FF3-C4B6DFE8CA0E}"/>
              </a:ext>
            </a:extLst>
          </p:cNvPr>
          <p:cNvSpPr txBox="1">
            <a:spLocks/>
          </p:cNvSpPr>
          <p:nvPr/>
        </p:nvSpPr>
        <p:spPr>
          <a:xfrm>
            <a:off x="1503705" y="0"/>
            <a:ext cx="10227733" cy="1076325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3600" dirty="0"/>
              <a:t>Problem Definition</a:t>
            </a:r>
            <a:endParaRPr lang="en-IN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DC0FA-B903-4FBF-B5A2-869C998A3CD3}"/>
              </a:ext>
            </a:extLst>
          </p:cNvPr>
          <p:cNvSpPr txBox="1"/>
          <p:nvPr/>
        </p:nvSpPr>
        <p:spPr>
          <a:xfrm>
            <a:off x="800274" y="5214803"/>
            <a:ext cx="1108909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70% of the globe renewal curtailments occur because grid lacks storage capacity</a:t>
            </a:r>
          </a:p>
          <a:p>
            <a:pPr algn="just"/>
            <a:endParaRPr lang="en-IN" sz="20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7D2F96-3865-0691-20E9-C2F749250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394" y="1643197"/>
            <a:ext cx="7168711" cy="358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521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B234FB-6F1B-1AB1-B6DB-7C5C79182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13" y="1076326"/>
            <a:ext cx="11842377" cy="55277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200" b="1" dirty="0"/>
              <a:t>Problem Statement: </a:t>
            </a:r>
            <a:endParaRPr lang="en-IN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4AB3A3-E6D2-4AD2-BD4E-F2F546885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DFEBE-E15D-B9A0-A2E5-15D6147F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F029EF-F97C-2942-1FF3-C4B6DFE8CA0E}"/>
              </a:ext>
            </a:extLst>
          </p:cNvPr>
          <p:cNvSpPr txBox="1">
            <a:spLocks/>
          </p:cNvSpPr>
          <p:nvPr/>
        </p:nvSpPr>
        <p:spPr>
          <a:xfrm>
            <a:off x="1503705" y="0"/>
            <a:ext cx="10227733" cy="1076325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3600" dirty="0"/>
              <a:t>Problem Definition</a:t>
            </a:r>
            <a:endParaRPr lang="en-IN" sz="3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924271-E212-49F0-9E5A-59105460E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78" y="1793609"/>
            <a:ext cx="7402826" cy="3543578"/>
          </a:xfrm>
          <a:prstGeom prst="rect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5AA4B4-7DF3-4D4E-A6EF-321BFB6F211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440" y="1778693"/>
            <a:ext cx="3371418" cy="330061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DC74B43-F288-489C-912A-4126EE7F6D58}"/>
              </a:ext>
            </a:extLst>
          </p:cNvPr>
          <p:cNvSpPr/>
          <p:nvPr/>
        </p:nvSpPr>
        <p:spPr>
          <a:xfrm>
            <a:off x="744165" y="5511930"/>
            <a:ext cx="66726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Reference: INDIAN EXPRESS </a:t>
            </a:r>
            <a:r>
              <a:rPr lang="en-IN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[October 4th, 2024]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DE1451-D0E4-43C0-9D5B-4D0EBAE99230}"/>
              </a:ext>
            </a:extLst>
          </p:cNvPr>
          <p:cNvSpPr/>
          <p:nvPr/>
        </p:nvSpPr>
        <p:spPr>
          <a:xfrm>
            <a:off x="8340440" y="5162856"/>
            <a:ext cx="32927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kern="0" dirty="0">
                <a:solidFill>
                  <a:srgbClr val="422C75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The chart highlights the rapid growth in </a:t>
            </a:r>
            <a:r>
              <a:rPr lang="en-US" sz="1200" b="1" kern="0" dirty="0">
                <a:solidFill>
                  <a:srgbClr val="422C75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global energy </a:t>
            </a:r>
            <a:r>
              <a:rPr lang="en-US" sz="1200" kern="0" dirty="0">
                <a:solidFill>
                  <a:srgbClr val="422C75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storage capacity from </a:t>
            </a:r>
            <a:r>
              <a:rPr lang="en-US" sz="1200" b="1" kern="0" dirty="0">
                <a:solidFill>
                  <a:srgbClr val="422C75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230 GW in 2023</a:t>
            </a:r>
            <a:r>
              <a:rPr lang="en-US" sz="1200" kern="0" dirty="0">
                <a:solidFill>
                  <a:srgbClr val="422C75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 to a projected </a:t>
            </a:r>
            <a:r>
              <a:rPr lang="en-US" sz="1200" b="1" kern="0" dirty="0">
                <a:solidFill>
                  <a:srgbClr val="422C75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1,200 GW by 2030.</a:t>
            </a:r>
            <a:r>
              <a:rPr lang="en-US" sz="1200" kern="0" dirty="0">
                <a:solidFill>
                  <a:srgbClr val="422C75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endParaRPr lang="en-IN" sz="12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604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0C888C-4575-335B-FA8F-F2C2631CF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623" y="1032933"/>
            <a:ext cx="11842377" cy="4783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b="1" dirty="0"/>
              <a:t>Key studies and Findings:</a:t>
            </a:r>
            <a:endParaRPr lang="en-IN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AF141-6363-0CAE-30CA-9F94BDD9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1710268" y="89747"/>
            <a:ext cx="9939866" cy="943186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b="1" dirty="0"/>
              <a:t>Literature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C76295-4C4A-5AA1-E9B5-DDB8A438D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69836"/>
              </p:ext>
            </p:extLst>
          </p:nvPr>
        </p:nvGraphicFramePr>
        <p:xfrm>
          <a:off x="488333" y="1744407"/>
          <a:ext cx="10926918" cy="4511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3459">
                  <a:extLst>
                    <a:ext uri="{9D8B030D-6E8A-4147-A177-3AD203B41FA5}">
                      <a16:colId xmlns:a16="http://schemas.microsoft.com/office/drawing/2014/main" val="1280982998"/>
                    </a:ext>
                  </a:extLst>
                </a:gridCol>
                <a:gridCol w="5463459">
                  <a:extLst>
                    <a:ext uri="{9D8B030D-6E8A-4147-A177-3AD203B41FA5}">
                      <a16:colId xmlns:a16="http://schemas.microsoft.com/office/drawing/2014/main" val="19702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Energy Vault (2020):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Energy Vault demonstrated a large-scale gravity battery using crane-like structures to stack heavy blocks for energy storage.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422C75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61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Gravitricity</a:t>
                      </a:r>
                      <a:r>
                        <a:rPr kumimoji="0" lang="en-US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 Ltd (2021):</a:t>
                      </a:r>
                      <a:br>
                        <a:rPr kumimoji="0" lang="en-US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</a:b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Developed a 250kW prototype using free-falling weights in mine shafts to generate electricity.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422C75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916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Pumped Hydro Storage (IEA, 2019):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Highlighted gravitational storage as the most efficient large-scale energy storage system with up to 90% efficiency.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422C75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818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solidFill>
                            <a:srgbClr val="422C75"/>
                          </a:solidFill>
                        </a:rPr>
                        <a:t>Mechanical Energy Storage Systems (</a:t>
                      </a:r>
                      <a:r>
                        <a:rPr lang="en-US" altLang="en-US" sz="2000" b="1" dirty="0" err="1">
                          <a:solidFill>
                            <a:srgbClr val="422C75"/>
                          </a:solidFill>
                        </a:rPr>
                        <a:t>Khalilpour</a:t>
                      </a:r>
                      <a:r>
                        <a:rPr lang="en-US" altLang="en-US" sz="2000" b="1" dirty="0">
                          <a:solidFill>
                            <a:srgbClr val="422C75"/>
                          </a:solidFill>
                        </a:rPr>
                        <a:t> &amp; Vassallo, 2022):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solidFill>
                            <a:srgbClr val="422C75"/>
                          </a:solidFill>
                        </a:rPr>
                        <a:t>Discussed the advantages of mechanical (gravity-based) storage systems over chemical batteries for long-term sustainability.</a:t>
                      </a:r>
                      <a:endParaRPr lang="en-US" altLang="en-US" sz="1800" dirty="0">
                        <a:solidFill>
                          <a:srgbClr val="422C75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3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solidFill>
                            <a:srgbClr val="422C75"/>
                          </a:solidFill>
                        </a:rPr>
                        <a:t>Sand Battery Concepts (MIT Energy Initiative, 2023):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solidFill>
                            <a:srgbClr val="422C75"/>
                          </a:solidFill>
                        </a:rPr>
                        <a:t>Showed innovative use of inexpensive materials like sand for gravity-driven thermal and mechanical energy storage.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849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418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F7FB4-C5D2-CC0F-225B-FA8135421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62FD53-C6FD-16A5-2036-2CE4F0400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623" y="1032933"/>
            <a:ext cx="11842377" cy="4783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b="1" dirty="0"/>
              <a:t>Key studies and Findings:</a:t>
            </a:r>
            <a:endParaRPr lang="en-IN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AD19D0-FE81-6CC7-32FA-164EBF67C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5022E-AB42-B144-DB33-3E7636255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F2C561F-7145-C87C-563C-27FC360919B7}"/>
              </a:ext>
            </a:extLst>
          </p:cNvPr>
          <p:cNvSpPr txBox="1">
            <a:spLocks/>
          </p:cNvSpPr>
          <p:nvPr/>
        </p:nvSpPr>
        <p:spPr>
          <a:xfrm>
            <a:off x="1710268" y="89747"/>
            <a:ext cx="9939866" cy="943186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b="1" dirty="0"/>
              <a:t>Literature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2647B4-46AC-BF7E-5B04-891EFEE66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923948"/>
              </p:ext>
            </p:extLst>
          </p:nvPr>
        </p:nvGraphicFramePr>
        <p:xfrm>
          <a:off x="488333" y="1744407"/>
          <a:ext cx="10926918" cy="454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3459">
                  <a:extLst>
                    <a:ext uri="{9D8B030D-6E8A-4147-A177-3AD203B41FA5}">
                      <a16:colId xmlns:a16="http://schemas.microsoft.com/office/drawing/2014/main" val="1280982998"/>
                    </a:ext>
                  </a:extLst>
                </a:gridCol>
                <a:gridCol w="5463459">
                  <a:extLst>
                    <a:ext uri="{9D8B030D-6E8A-4147-A177-3AD203B41FA5}">
                      <a16:colId xmlns:a16="http://schemas.microsoft.com/office/drawing/2014/main" val="19702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Solid Gravity Energy Storage: A Review (2022)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Provides a full overview of solid-mass gravity storage systems, their efficiency, structure, and performance limits.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422C75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61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A Review of Gravity Energy Storage (2025)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Summarizes the latest advancements and compares SGES with pumped hydro and other mechanical storage options.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422C75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916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Parametric </a:t>
                      </a:r>
                      <a:r>
                        <a:rPr kumimoji="0" lang="en-US" altLang="en-US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Optimisation</a:t>
                      </a:r>
                      <a:r>
                        <a:rPr kumimoji="0" lang="en-US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 for the Design of Gravity Energy Storage System Using Taguchi Method (2022)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Identifies the best design parameters (mass, height, timing) for maximizing energy output.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422C75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818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solidFill>
                            <a:srgbClr val="422C75"/>
                          </a:solidFill>
                        </a:rPr>
                        <a:t>Can Solid Gravity Close the Energy Storage Gap? Emerging GES Technologies and Cost-Potential (2025)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solidFill>
                            <a:srgbClr val="422C75"/>
                          </a:solidFill>
                        </a:rPr>
                        <a:t>Evaluates cost potential and global scalability of emerging gravity energy technologies.</a:t>
                      </a:r>
                      <a:endParaRPr lang="en-US" altLang="en-US" sz="1800" dirty="0">
                        <a:solidFill>
                          <a:srgbClr val="422C75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3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solidFill>
                            <a:srgbClr val="422C75"/>
                          </a:solidFill>
                        </a:rPr>
                        <a:t>Gravity Energy Storage and Its Feasibility with Mine Shafts (2025)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solidFill>
                            <a:srgbClr val="422C75"/>
                          </a:solidFill>
                        </a:rPr>
                        <a:t>Assesses feasibility and benefits of converting abandoned mine shafts into gravity energy systems.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849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972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2E519-A683-14F7-4205-A5084913A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430432-A6F5-212D-E5BF-56A47B74F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623" y="1032933"/>
            <a:ext cx="11842377" cy="4783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b="1" dirty="0"/>
              <a:t>Key studies and Findings:</a:t>
            </a:r>
            <a:endParaRPr lang="en-IN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B7A692-8344-9AB9-08A5-2713705AB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BF507-EA20-056E-FF62-571CD5E5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7243BD-5CD3-40D4-9695-3EE042FA3CA7}"/>
              </a:ext>
            </a:extLst>
          </p:cNvPr>
          <p:cNvSpPr txBox="1">
            <a:spLocks/>
          </p:cNvSpPr>
          <p:nvPr/>
        </p:nvSpPr>
        <p:spPr>
          <a:xfrm>
            <a:off x="1710268" y="89747"/>
            <a:ext cx="9939866" cy="943186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b="1" dirty="0"/>
              <a:t>Literature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275632-9428-E92A-51F8-DC049500B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808188"/>
              </p:ext>
            </p:extLst>
          </p:nvPr>
        </p:nvGraphicFramePr>
        <p:xfrm>
          <a:off x="488333" y="1744407"/>
          <a:ext cx="10926918" cy="3718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3459">
                  <a:extLst>
                    <a:ext uri="{9D8B030D-6E8A-4147-A177-3AD203B41FA5}">
                      <a16:colId xmlns:a16="http://schemas.microsoft.com/office/drawing/2014/main" val="1280982998"/>
                    </a:ext>
                  </a:extLst>
                </a:gridCol>
                <a:gridCol w="5463459">
                  <a:extLst>
                    <a:ext uri="{9D8B030D-6E8A-4147-A177-3AD203B41FA5}">
                      <a16:colId xmlns:a16="http://schemas.microsoft.com/office/drawing/2014/main" val="19702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Grid Connection Method of Gravity Energy Storage Generator (2024)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Examines how gravity generators can safely connect and synchronize with electrical grids.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422C75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61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The Innovative Gravity Energy Storage Solution (2024)</a:t>
                      </a:r>
                      <a:br>
                        <a:rPr kumimoji="0" lang="en-US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</a:b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Proposes next-generation design concepts and integration pathways for gravity batteries.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422C75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916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Design and Fabrication of Gravity-Based Energy Storage System (2023)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Presents a small-scale prototype demonstrating practical construction and testing.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422C75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818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solidFill>
                            <a:srgbClr val="422C75"/>
                          </a:solidFill>
                        </a:rPr>
                        <a:t>Mountain Gravity Energy Storage for Isolated Micro-Grids (2020)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solidFill>
                            <a:srgbClr val="422C75"/>
                          </a:solidFill>
                        </a:rPr>
                        <a:t>Explores using mountain elevations for gravity storage in remote microgrid areas.</a:t>
                      </a:r>
                      <a:endParaRPr lang="en-US" altLang="en-US" sz="1800" dirty="0">
                        <a:solidFill>
                          <a:srgbClr val="422C75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3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solidFill>
                            <a:srgbClr val="422C75"/>
                          </a:solidFill>
                        </a:rPr>
                        <a:t>Gravity Energy Storage Feasibility for Residential Homes (2024)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solidFill>
                            <a:srgbClr val="422C75"/>
                          </a:solidFill>
                        </a:rPr>
                        <a:t>Studies the feasibility and constraints of using gravity batteries in home-scale applications.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849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4702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30F6D-C36F-C2A7-C2B7-6E30D56F5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17C6BC-E41A-09D8-5B68-B9D5ECB65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623" y="1032933"/>
            <a:ext cx="11842377" cy="4783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b="1" dirty="0"/>
              <a:t>Key studies and Findings:</a:t>
            </a:r>
            <a:endParaRPr lang="en-IN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D32B2-BC32-9794-81EA-A47AF427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21DFC-35DD-AAAC-9B72-0DD66802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0F1672E-BB6B-9833-C15D-311E2702606C}"/>
              </a:ext>
            </a:extLst>
          </p:cNvPr>
          <p:cNvSpPr txBox="1">
            <a:spLocks/>
          </p:cNvSpPr>
          <p:nvPr/>
        </p:nvSpPr>
        <p:spPr>
          <a:xfrm>
            <a:off x="1710268" y="89747"/>
            <a:ext cx="9939866" cy="943186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b="1" dirty="0"/>
              <a:t>Literature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E3F46A-5989-717B-A541-E920EEB48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802632"/>
              </p:ext>
            </p:extLst>
          </p:nvPr>
        </p:nvGraphicFramePr>
        <p:xfrm>
          <a:off x="488333" y="1744407"/>
          <a:ext cx="10926918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3459">
                  <a:extLst>
                    <a:ext uri="{9D8B030D-6E8A-4147-A177-3AD203B41FA5}">
                      <a16:colId xmlns:a16="http://schemas.microsoft.com/office/drawing/2014/main" val="1280982998"/>
                    </a:ext>
                  </a:extLst>
                </a:gridCol>
                <a:gridCol w="5463459">
                  <a:extLst>
                    <a:ext uri="{9D8B030D-6E8A-4147-A177-3AD203B41FA5}">
                      <a16:colId xmlns:a16="http://schemas.microsoft.com/office/drawing/2014/main" val="19702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Critical Review of Energy Storage Systems (2025)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Compares gravity storage with chemical and thermal systems on cost, lifespan, and sustainability.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422C75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61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Gravity-Based Storage for Renewable Integration: Challenges &amp; Opportunities (2024)</a:t>
                      </a:r>
                      <a:br>
                        <a:rPr kumimoji="0" lang="en-US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</a:b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Discusses the main challenges and future opportunities for SGES in renewable-heavy grids.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422C75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916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Media Taxonomy, Efficiency and Potential of Gravity Energy Storage (2025)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rgbClr val="422C75"/>
                          </a:solidFill>
                          <a:effectLst/>
                        </a:rPr>
                        <a:t>Classifies gravity storage types and compares efficiency ranges across solid, granular, and fluid media.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422C75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818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1587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0C888C-4575-335B-FA8F-F2C2631CF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655" y="1032933"/>
            <a:ext cx="11842377" cy="53836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3200" b="1" dirty="0">
                <a:solidFill>
                  <a:srgbClr val="422C75"/>
                </a:solidFill>
              </a:rPr>
              <a:t>Trends in Literature:</a:t>
            </a:r>
            <a:endParaRPr lang="en-IN" sz="3200" dirty="0">
              <a:solidFill>
                <a:srgbClr val="422C75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AF141-6363-0CAE-30CA-9F94BDD9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1710268" y="89747"/>
            <a:ext cx="9939866" cy="943186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b="1" dirty="0"/>
              <a:t>Literature Review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17DC324-93EC-4541-9547-9DDAA8AE3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811" y="1636120"/>
            <a:ext cx="1075632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à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Shift towards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mechanical storage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 to overcome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chemical battery limitations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à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à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Focus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cost reduction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efficiency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eco-friendly storage solutions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à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à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Rising interest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decentralized, modular gravity battery systems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 for rural electrification.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à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à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Emerging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hybrid models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22C75"/>
                </a:solidFill>
                <a:effectLst/>
                <a:latin typeface="Bookman Old Style" panose="02050604050505020204" pitchFamily="18" charset="0"/>
              </a:rPr>
              <a:t> combining gravity with other storage technologies.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à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278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0C888C-4575-335B-FA8F-F2C2631CF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12" y="1127353"/>
            <a:ext cx="11842377" cy="58040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200" b="1" dirty="0"/>
              <a:t>Theoretical Framework:</a:t>
            </a:r>
            <a:endParaRPr lang="en-IN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AF141-6363-0CAE-30CA-9F94BDD9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1710268" y="89747"/>
            <a:ext cx="9939866" cy="943186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b="1" dirty="0"/>
              <a:t>Literature Review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D047A0-5F35-45B2-B4BB-0AF1E270FCA9}"/>
              </a:ext>
            </a:extLst>
          </p:cNvPr>
          <p:cNvSpPr/>
          <p:nvPr/>
        </p:nvSpPr>
        <p:spPr>
          <a:xfrm>
            <a:off x="956553" y="1896772"/>
            <a:ext cx="1069358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Principle:</a:t>
            </a: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 Conservation of Energy — Potential Energy (mgh) converted into Electrical Energy.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endParaRPr lang="en-US" sz="22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  <a:p>
            <a:pPr algn="just"/>
            <a:r>
              <a:rPr lang="en-US" sz="2200" b="1" dirty="0">
                <a:solidFill>
                  <a:srgbClr val="422C75"/>
                </a:solidFill>
                <a:latin typeface="Bookman Old Style" panose="02050604050505020204" pitchFamily="18" charset="0"/>
                <a:sym typeface="Wingdings" panose="05000000000000000000" pitchFamily="2" charset="2"/>
              </a:rPr>
              <a:t> </a:t>
            </a:r>
            <a:r>
              <a:rPr 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Mechanism:</a:t>
            </a:r>
            <a:endParaRPr lang="en-US" sz="22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Mass lifted during </a:t>
            </a:r>
            <a:r>
              <a:rPr 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energy surplus </a:t>
            </a: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→ stored as potential energy.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Mass lowered during </a:t>
            </a:r>
            <a:r>
              <a:rPr 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demand</a:t>
            </a: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 → generates electricity via generators.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Relevance:</a:t>
            </a: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 Forms the core working principle of the gravity battery prototype.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endParaRPr lang="en-US" sz="22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664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0C888C-4575-335B-FA8F-F2C2631CF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12" y="1125008"/>
            <a:ext cx="11842377" cy="4858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b="1" dirty="0"/>
              <a:t>Relevance to current research:</a:t>
            </a:r>
            <a:endParaRPr lang="en-IN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AF141-6363-0CAE-30CA-9F94BDD9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1710268" y="89747"/>
            <a:ext cx="9939866" cy="943186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b="1" dirty="0"/>
              <a:t>Literature Review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D41103-A385-47F4-BDAF-2A3DACE9E952}"/>
              </a:ext>
            </a:extLst>
          </p:cNvPr>
          <p:cNvSpPr/>
          <p:nvPr/>
        </p:nvSpPr>
        <p:spPr>
          <a:xfrm>
            <a:off x="914398" y="1912883"/>
            <a:ext cx="1098331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Supports the shift from </a:t>
            </a:r>
            <a:r>
              <a:rPr 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chemical to mechanical energy storage</a:t>
            </a: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US" sz="22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Validates the feasibility of </a:t>
            </a:r>
            <a:r>
              <a:rPr 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low-cost, long-lifespan</a:t>
            </a: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 energy storage prototypes.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US" sz="22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Aligns with global efforts to </a:t>
            </a:r>
            <a:r>
              <a:rPr 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enable 24/7 renewable energy grids</a:t>
            </a: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US" sz="22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Our project contributes by </a:t>
            </a:r>
            <a:r>
              <a:rPr 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prototyping a compact, scalable gravity battery model</a:t>
            </a: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 for practical applications.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US" sz="22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976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AF141-6363-0CAE-30CA-9F94BDD9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2191229" y="0"/>
            <a:ext cx="8146571" cy="10329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Objectives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29144A-E251-4F90-89ED-B9616ACD4485}"/>
              </a:ext>
            </a:extLst>
          </p:cNvPr>
          <p:cNvSpPr/>
          <p:nvPr/>
        </p:nvSpPr>
        <p:spPr>
          <a:xfrm>
            <a:off x="404139" y="1427911"/>
            <a:ext cx="111782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To </a:t>
            </a:r>
            <a:r>
              <a:rPr 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design</a:t>
            </a: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and </a:t>
            </a:r>
            <a:r>
              <a:rPr 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develop</a:t>
            </a: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a working gravity-based mechanical energy storage prototype.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To experimentally study the effect of </a:t>
            </a:r>
            <a:r>
              <a:rPr 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mass on current, power</a:t>
            </a: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, and </a:t>
            </a:r>
            <a:r>
              <a:rPr 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efficiency of the system</a:t>
            </a: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To identify the </a:t>
            </a:r>
            <a:r>
              <a:rPr 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optimum operating mass </a:t>
            </a: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that gives </a:t>
            </a:r>
            <a:r>
              <a:rPr 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maximum power </a:t>
            </a: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output and efficiency.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To </a:t>
            </a:r>
            <a:r>
              <a:rPr 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measure real-time electrical parameters </a:t>
            </a: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(voltage and current) using sensors and Arduino UNO.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To </a:t>
            </a:r>
            <a:r>
              <a:rPr 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analyze energy conversion losses</a:t>
            </a: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due to friction, heat, and mechanical limitations.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To validate the </a:t>
            </a:r>
            <a:r>
              <a:rPr 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feasibility of gravity-driven storage </a:t>
            </a: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as a low-maintenance alternative for </a:t>
            </a:r>
            <a:r>
              <a:rPr 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renewable energy integration</a:t>
            </a: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  <a:endParaRPr lang="en-IN" sz="24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868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AF141-6363-0CAE-30CA-9F94BDD9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2022714" y="14567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Methodology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9795467-326F-4023-A45D-85EBAAFB7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812" y="1116983"/>
            <a:ext cx="1185947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1. System Design and Planning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The overall system was designed to store energy by lifting a mass using solar power and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generate electricity 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during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controlled descent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A 0.6 m vertical structure was designed using PVC pipes and cardboard for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mechanical stability 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and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insulation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Component selection was finalized based on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availability, power rating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, and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compatibility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 with Arduino-based control.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altLang="en-US" sz="22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2. Energy Input and Storage Mechanism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A 20 W solar panel was used as the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primary renewable energy source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The solar output was regulated using a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DC–DC buck converter 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to obtain a stable 12 V supply.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This regulated power was supplied to a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DC dynamo motor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, which lifted a 1.0 kg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mass vertically, storing energy 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in the form of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gravitational potential energy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5415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55587-590D-EA35-A181-476AA5AEC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7025EB-9F8F-6B15-D731-6810360F8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90FED-4C60-05FB-4B4F-59BB4B1C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18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6477CBC-DC23-D4BC-C7D4-D6A7AEFFB25F}"/>
              </a:ext>
            </a:extLst>
          </p:cNvPr>
          <p:cNvSpPr txBox="1">
            <a:spLocks/>
          </p:cNvSpPr>
          <p:nvPr/>
        </p:nvSpPr>
        <p:spPr>
          <a:xfrm>
            <a:off x="2022714" y="14567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Methodology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82FA7B2-65BE-C307-03B8-B3F4CBC63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812" y="1763314"/>
            <a:ext cx="11859472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8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3. Mechanical Locking and Safety Control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A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shaft-locking mechanism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was implemented to hold the mass securely at the top position.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A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NEMA17 stepper motor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driven by a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DRV8825 driver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provided precise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angular control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for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lock engagement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and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disengagement.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A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potentiometer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was used to monitor the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shaft position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and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confirm locking status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In case of stepper failure, a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manual DPDT switch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and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BO motor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were used as a backup control system.</a:t>
            </a:r>
          </a:p>
        </p:txBody>
      </p:sp>
    </p:spTree>
    <p:extLst>
      <p:ext uri="{BB962C8B-B14F-4D97-AF65-F5344CB8AC3E}">
        <p14:creationId xmlns:p14="http://schemas.microsoft.com/office/powerpoint/2010/main" val="2413534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6CD2C-B83E-6369-F680-A02D77C7D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4DFF43-DEBB-A6E0-B104-386C441A9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90586-D077-ECFC-A9A6-4D949F20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19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B78D91F-EBF0-E8C5-2009-4AA917BE8D87}"/>
              </a:ext>
            </a:extLst>
          </p:cNvPr>
          <p:cNvSpPr txBox="1">
            <a:spLocks/>
          </p:cNvSpPr>
          <p:nvPr/>
        </p:nvSpPr>
        <p:spPr>
          <a:xfrm>
            <a:off x="2022714" y="14567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Methodology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6A28793-D5DB-FB04-01BA-DC7D92FC5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960" y="1339683"/>
            <a:ext cx="11472077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4. Energy Generation During Descent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When the mass was released, the lifting motor acted as a generator, converting mechanical energy into electrical energy.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The generated power was supplied to a </a:t>
            </a: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12 V LED array</a:t>
            </a: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, serving as </a:t>
            </a: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the output load </a:t>
            </a: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and </a:t>
            </a: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visual indication of energy generation</a:t>
            </a: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altLang="en-US" sz="18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5. Data Acquisition and Monitoring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An </a:t>
            </a: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INA219 current </a:t>
            </a: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and voltage sensor was used to measure real-time electrical output.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Sensor data </a:t>
            </a: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was collected and processed using an Arduino UNO.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Parameters such as voltage, current, </a:t>
            </a: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power, descent time</a:t>
            </a: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, and </a:t>
            </a: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efficiency</a:t>
            </a: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 were recorded during </a:t>
            </a: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multiple trials.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922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68E6A-4F8C-6EAC-E258-27864B2A7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68C519-91E5-72DC-9AFC-7177F9504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03EDC-07CB-4FFD-667F-B38D9352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20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83E806-3B64-8620-C048-4C68ADFD198B}"/>
              </a:ext>
            </a:extLst>
          </p:cNvPr>
          <p:cNvSpPr txBox="1">
            <a:spLocks/>
          </p:cNvSpPr>
          <p:nvPr/>
        </p:nvSpPr>
        <p:spPr>
          <a:xfrm>
            <a:off x="2022714" y="14567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Methodology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70BE373-43F6-2BF1-AE86-8EF4E28A2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960" y="1237103"/>
            <a:ext cx="11472077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6. Experimental Testing and Optimization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The system was tested with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multiple descent cycles 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to verify repeatability.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Mass values were varied (up to system limit) to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identify optimum operating conditions.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Efficiency was calculated by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comparing electrical output 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energy with input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potential energy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Observed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losses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 due to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friction, heat, 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and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structural flexibility 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were noted.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altLang="en-US" sz="22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7. Validation of Working Model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Successful energy generation was confirmed through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LED illumination 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during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descent.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The system demonstrated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stable operation 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up to 1.0 kg, validating the feasibility of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gravity-based energy storage 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at small scale.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392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DB8F0D-1BED-4A12-85B3-A4ED720F6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85"/>
          <a:stretch/>
        </p:blipFill>
        <p:spPr>
          <a:xfrm>
            <a:off x="3145916" y="808311"/>
            <a:ext cx="5900167" cy="4970791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AF141-6363-0CAE-30CA-9F94BDD9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21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Methodology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61F389-BB3D-494D-A366-214AC55C2A56}"/>
              </a:ext>
            </a:extLst>
          </p:cNvPr>
          <p:cNvSpPr txBox="1"/>
          <p:nvPr/>
        </p:nvSpPr>
        <p:spPr>
          <a:xfrm>
            <a:off x="4392648" y="5779102"/>
            <a:ext cx="3406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Flowchart:</a:t>
            </a:r>
            <a:r>
              <a:rPr lang="en-IN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 Flow of Work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735179-1951-0A2C-F92D-89C5E0582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788" y="808311"/>
            <a:ext cx="7423355" cy="604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7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AF141-6363-0CAE-30CA-9F94BDD9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22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Methodology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61F389-BB3D-494D-A366-214AC55C2A56}"/>
              </a:ext>
            </a:extLst>
          </p:cNvPr>
          <p:cNvSpPr txBox="1"/>
          <p:nvPr/>
        </p:nvSpPr>
        <p:spPr>
          <a:xfrm>
            <a:off x="4392648" y="577910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20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B47472-D30E-4493-A8DA-7BE5132B08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50" r="34997"/>
          <a:stretch/>
        </p:blipFill>
        <p:spPr>
          <a:xfrm>
            <a:off x="850283" y="1098988"/>
            <a:ext cx="3868862" cy="46600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8BCFD9C-2F5F-470B-A6D3-92BF692690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0" r="8320"/>
          <a:stretch/>
        </p:blipFill>
        <p:spPr>
          <a:xfrm>
            <a:off x="5549462" y="1098988"/>
            <a:ext cx="5276194" cy="37837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90FB4EE-F911-4BB5-8DD5-9E55B486716B}"/>
              </a:ext>
            </a:extLst>
          </p:cNvPr>
          <p:cNvSpPr txBox="1"/>
          <p:nvPr/>
        </p:nvSpPr>
        <p:spPr>
          <a:xfrm>
            <a:off x="688875" y="5759012"/>
            <a:ext cx="45624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Circuit Diagram: </a:t>
            </a:r>
            <a:r>
              <a:rPr lang="en-IN" sz="1400" dirty="0">
                <a:solidFill>
                  <a:srgbClr val="422C75"/>
                </a:solidFill>
                <a:latin typeface="Bookman Old Style" panose="02050604050505020204" pitchFamily="18" charset="0"/>
              </a:rPr>
              <a:t>Main Motor, using TINKERCAD</a:t>
            </a:r>
            <a:endParaRPr lang="en-IN" sz="1400" b="1" dirty="0">
              <a:solidFill>
                <a:srgbClr val="422C75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7376F2-E723-4BFD-AFB0-A71B0E817422}"/>
              </a:ext>
            </a:extLst>
          </p:cNvPr>
          <p:cNvSpPr/>
          <p:nvPr/>
        </p:nvSpPr>
        <p:spPr>
          <a:xfrm>
            <a:off x="6256581" y="4698047"/>
            <a:ext cx="38619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Circuit Diagram: </a:t>
            </a:r>
            <a:r>
              <a:rPr lang="en-IN" dirty="0">
                <a:solidFill>
                  <a:srgbClr val="422C75"/>
                </a:solidFill>
                <a:latin typeface="Bookman Old Style" panose="02050604050505020204" pitchFamily="18" charset="0"/>
              </a:rPr>
              <a:t>Stepper Motor</a:t>
            </a:r>
            <a:endParaRPr lang="en-IN" b="1" dirty="0">
              <a:solidFill>
                <a:srgbClr val="422C75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257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AF141-6363-0CAE-30CA-9F94BDD9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Outcomes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C77C514-B54A-4C1A-A914-B3341C41F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303" y="1125148"/>
            <a:ext cx="11641393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Successfully developed a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working gravity-based energy storage prototype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Demonstrated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electrical energy generation 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during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controlled mass descent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Identified the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optimum operating mass 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(≈ 1.0 kg) for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maximum current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, power, and efficiency.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Achieved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peak efficiency of ~17.9%, 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validating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effective mechanical-to-electrical energy conversion.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Established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clear performance trends 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between mass, current, power, and efficiency.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Validated real-time monitoring of voltage and current using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Arduino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 and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INA219 sensor.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Identified key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system losses 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due to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friction, heat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, and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mechanical limitations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Confirmed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feasibility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 of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gravity-driven storage 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as a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low-maintenance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, sustainable alternative for </a:t>
            </a:r>
            <a:r>
              <a:rPr lang="en-US" alt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renewable energy integration</a:t>
            </a:r>
            <a:r>
              <a:rPr lang="en-US" alt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727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AF141-6363-0CAE-30CA-9F94BDD9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24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Outcomes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A444B4-8EF1-1762-BE1D-BF7C27AF7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70" y="1182329"/>
            <a:ext cx="5614219" cy="44933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F7B2EA-830B-7BC8-31D1-C83549CD7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118" y="1182329"/>
            <a:ext cx="5852070" cy="449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50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27B59-625E-DA7E-76A9-AE7546F70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DF01B9-E10A-C2D9-0AC3-C84C22F6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B73A1-2529-D26C-8087-E09D0240E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25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221680-2051-674D-51A2-5500EF535D6D}"/>
              </a:ext>
            </a:extLst>
          </p:cNvPr>
          <p:cNvSpPr txBox="1">
            <a:spLocks/>
          </p:cNvSpPr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Outcomes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C8A117-F1CB-C550-A82E-335E80D6A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12" y="1209777"/>
            <a:ext cx="5744823" cy="4241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C05A2F-CD07-234C-524E-4E8A696EA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367" y="1209777"/>
            <a:ext cx="5613619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25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A5CE7-27CA-FF6C-09E3-25477946F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2450B5-EA1E-A2EE-D458-2358796D4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885AA-2611-B3D0-A9CD-17431D12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26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B99BA6-B93A-9EDE-FEBD-9B91BFB0B3BD}"/>
              </a:ext>
            </a:extLst>
          </p:cNvPr>
          <p:cNvSpPr txBox="1">
            <a:spLocks/>
          </p:cNvSpPr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Outcomes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1DA331-37DD-E4C1-498F-FC5E3E78F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012" y="1109679"/>
            <a:ext cx="6660793" cy="444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039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AF141-6363-0CAE-30CA-9F94BDD9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4812" y="6347205"/>
            <a:ext cx="2743200" cy="365125"/>
          </a:xfrm>
        </p:spPr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27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Conclusion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411BF38-EB79-471D-AFC3-3561DCAE6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942" y="1188536"/>
            <a:ext cx="10925806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8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Technical Findings -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A gravity-driven mechanical energy storage system was successfully demonstrated using a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solar-powered lifting mechanism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Electrical energy generation during controlled mass descent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confirmed the feasibility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of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gravitational energy conversion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System performance showed a strong dependence on mass, with an optimal operating point at ~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1.0 kg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Peak performance achieved: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Maximum current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≈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0.72 A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Maximum power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≈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0.74 W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Peak efficiency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≈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17.93%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Beyond the optimal mass, performance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decreased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due to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mechanical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and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electrical limitations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2722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E3114-F94F-97C5-821E-5B5853087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92CEB7-5A1F-C6A8-CAAF-6BB6A381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4812" y="6347205"/>
            <a:ext cx="2743200" cy="365125"/>
          </a:xfrm>
        </p:spPr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8A54F-DD4F-B398-7831-4108A410B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28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A723641-CD17-943E-5939-D4D41376D521}"/>
              </a:ext>
            </a:extLst>
          </p:cNvPr>
          <p:cNvSpPr txBox="1">
            <a:spLocks/>
          </p:cNvSpPr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Conclusion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46A4901-12CB-C3CC-5D5E-71DEE3A37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277" y="1390720"/>
            <a:ext cx="10925806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8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Performance Interpretation –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The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efficiency trend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indicates that fixed mechanical and electrical losses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dominate at small scale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Losses arise mainly from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friction, generator inefficiency, structural flexibility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, and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control mechanisms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Measurement accuracy is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affected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by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current sensor saturation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, leading to possible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underestimation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of actual output.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Despite low absolute efficiency, results clearly demonstrate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repeatable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and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predictable system behavior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Findings validate the importance of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mass optimization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and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controlled descent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in gravity-based storage systems.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1533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85DF-A990-9E50-B4CF-7C4082C0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D01DD-D498-9D9D-7244-C47C2898E3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4812" y="6347205"/>
            <a:ext cx="2743200" cy="365125"/>
          </a:xfrm>
        </p:spPr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E26B0-4B2A-FC46-7FD3-C71750DC1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29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0118F9-6C2E-0E57-97FD-15C8AC70F183}"/>
              </a:ext>
            </a:extLst>
          </p:cNvPr>
          <p:cNvSpPr txBox="1">
            <a:spLocks/>
          </p:cNvSpPr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Conclusion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4C4230C-69A6-0CF3-8EB2-5A03E0EDF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277" y="1544607"/>
            <a:ext cx="10925806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8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Broader Implications -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The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study confirms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that gravity-based energy storage is technically viable for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renewable energy applications.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At larger scale, increased height and mass would significantly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improve efficiency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by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reducing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the relative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impact of losses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Mechanical storage systems offer advantages of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long life, low maintenance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, and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environmental safety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over chemical batteries.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Gravity-driven storage shows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strong potential 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as a long-duration energy storage solution supporting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renewable energy integration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800" b="1" dirty="0">
              <a:solidFill>
                <a:srgbClr val="422C75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2059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0C888C-4575-335B-FA8F-F2C2631CF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117601"/>
            <a:ext cx="11192933" cy="543034"/>
          </a:xfrm>
        </p:spPr>
        <p:txBody>
          <a:bodyPr>
            <a:normAutofit fontScale="92500" lnSpcReduction="20000"/>
          </a:bodyPr>
          <a:lstStyle/>
          <a:p>
            <a:r>
              <a:rPr lang="en-IN" sz="3200" b="1" dirty="0"/>
              <a:t>List of References:</a:t>
            </a:r>
            <a:endParaRPr lang="en-IN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AF141-6363-0CAE-30CA-9F94BDD9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IN" dirty="0"/>
              <a:t>Thursday, 22</a:t>
            </a:r>
            <a:r>
              <a:rPr lang="en-IN" baseline="30000" dirty="0"/>
              <a:t>nd</a:t>
            </a:r>
            <a:r>
              <a:rPr lang="en-IN" dirty="0"/>
              <a:t> January, 2026</a:t>
            </a:r>
          </a:p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30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References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19C2256-8063-4EA5-B1DA-2A02413A3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09" y="1860729"/>
            <a:ext cx="1043698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Global Energy Storage &amp; Renewable Data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422C75"/>
                </a:solidFill>
                <a:latin typeface="Bookman Old Style" panose="02050604050505020204" pitchFamily="18" charset="0"/>
              </a:rPr>
              <a:t>1. IEA (International Energy Agency). World Energy Outlook 2023.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422C75"/>
                </a:solidFill>
                <a:latin typeface="Bookman Old Style" panose="02050604050505020204" pitchFamily="18" charset="0"/>
              </a:rPr>
              <a:t>2. IEA. Electricity Market Report 2024.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422C75"/>
                </a:solidFill>
                <a:latin typeface="Bookman Old Style" panose="02050604050505020204" pitchFamily="18" charset="0"/>
              </a:rPr>
              <a:t>3. IRENA. World Energy Transitions Outlook 2023.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br>
              <a:rPr lang="en-US" altLang="en-US" dirty="0">
                <a:solidFill>
                  <a:srgbClr val="422C75"/>
                </a:solidFill>
                <a:latin typeface="Bookman Old Style" panose="02050604050505020204" pitchFamily="18" charset="0"/>
              </a:rPr>
            </a:br>
            <a:r>
              <a:rPr lang="en-US" altLang="en-US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Gravitational Energy Storage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422C75"/>
                </a:solidFill>
                <a:latin typeface="Bookman Old Style" panose="02050604050505020204" pitchFamily="18" charset="0"/>
              </a:rPr>
              <a:t>4. Tong et al. “Solid Gravity Energy Storage: A Review,” Energy Reports, 2022.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422C75"/>
                </a:solidFill>
                <a:latin typeface="Bookman Old Style" panose="02050604050505020204" pitchFamily="18" charset="0"/>
              </a:rPr>
              <a:t>5. Hunt et al. “Underground Gravity Energy Storage,” Energies, 2023.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422C75"/>
                </a:solidFill>
                <a:latin typeface="Bookman Old Style" panose="02050604050505020204" pitchFamily="18" charset="0"/>
              </a:rPr>
              <a:t>6. Elsayed et al. “Parametric Optimization for Gravity Energy Storage,” Scientific Reports, 2022.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422C75"/>
                </a:solidFill>
                <a:latin typeface="Bookman Old Style" panose="02050604050505020204" pitchFamily="18" charset="0"/>
              </a:rPr>
              <a:t>7. Cai et al. “Techno-Economic Assessment of Gravity Storage,” WIREs Energy &amp; Environment, 2024.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422C75"/>
                </a:solidFill>
                <a:latin typeface="Bookman Old Style" panose="02050604050505020204" pitchFamily="18" charset="0"/>
              </a:rPr>
              <a:t>8. Wang et al. “Review of Gravity Energy Storage,” Energies, 2025.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b="1" dirty="0">
              <a:solidFill>
                <a:srgbClr val="422C75"/>
              </a:solidFill>
              <a:latin typeface="Bookman Old Style" panose="020506040505050202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Sustainability &amp; SDG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422C75"/>
                </a:solidFill>
                <a:latin typeface="Bookman Old Style" panose="02050604050505020204" pitchFamily="18" charset="0"/>
              </a:rPr>
              <a:t>9. United Nations. SDG 7 – Affordable and Clean Energy.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br>
              <a:rPr lang="en-US" altLang="en-US" dirty="0">
                <a:solidFill>
                  <a:srgbClr val="422C75"/>
                </a:solidFill>
                <a:latin typeface="Bookman Old Style" panose="02050604050505020204" pitchFamily="18" charset="0"/>
              </a:rPr>
            </a:br>
            <a:r>
              <a:rPr lang="en-US" altLang="en-US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Lithium-Ion, Sodium-Ion &amp; Flow Batteries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422C75"/>
                </a:solidFill>
                <a:latin typeface="Bookman Old Style" panose="02050604050505020204" pitchFamily="18" charset="0"/>
              </a:rPr>
              <a:t>10. NREL. Grid Energy Storage Technology Cost and Performance (2022).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422C75"/>
                </a:solidFill>
                <a:latin typeface="Bookman Old Style" panose="02050604050505020204" pitchFamily="18" charset="0"/>
              </a:rPr>
              <a:t>11. </a:t>
            </a:r>
            <a:r>
              <a:rPr lang="en-US" altLang="en-US" dirty="0" err="1">
                <a:solidFill>
                  <a:srgbClr val="422C75"/>
                </a:solidFill>
                <a:latin typeface="Bookman Old Style" panose="02050604050505020204" pitchFamily="18" charset="0"/>
              </a:rPr>
              <a:t>BloombergNEF</a:t>
            </a:r>
            <a:r>
              <a:rPr lang="en-US" altLang="en-US" dirty="0">
                <a:solidFill>
                  <a:srgbClr val="422C75"/>
                </a:solidFill>
                <a:latin typeface="Bookman Old Style" panose="02050604050505020204" pitchFamily="18" charset="0"/>
              </a:rPr>
              <a:t>. Battery Price Survey 2023.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3760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31</a:t>
            </a:fld>
            <a:endParaRPr/>
          </a:p>
        </p:txBody>
      </p:sp>
      <p:pic>
        <p:nvPicPr>
          <p:cNvPr id="243" name="Google Shape;24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1096" y="1605964"/>
            <a:ext cx="5889812" cy="36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2308</Words>
  <Application>Microsoft Office PowerPoint</Application>
  <PresentationFormat>Widescreen</PresentationFormat>
  <Paragraphs>299</Paragraphs>
  <Slides>31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Adobe Gothic Std B</vt:lpstr>
      <vt:lpstr>Arial</vt:lpstr>
      <vt:lpstr>Bookman Old Style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Shanmukha</dc:creator>
  <cp:lastModifiedBy>aryannlodha@gmail.com</cp:lastModifiedBy>
  <cp:revision>13</cp:revision>
  <dcterms:created xsi:type="dcterms:W3CDTF">2021-06-02T13:10:21Z</dcterms:created>
  <dcterms:modified xsi:type="dcterms:W3CDTF">2026-01-22T05:11:15Z</dcterms:modified>
</cp:coreProperties>
</file>