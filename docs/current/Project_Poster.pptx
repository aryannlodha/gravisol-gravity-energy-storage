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Bookman Old Style" panose="02050604050505020204" pitchFamily="18" charset="0"/>
      <p:regular r:id="rId4"/>
      <p:bold r:id="rId5"/>
      <p:italic r:id="rId6"/>
      <p:boldItalic r:id="rId7"/>
    </p:embeddedFont>
    <p:embeddedFont>
      <p:font typeface="Cambria Math" panose="02040503050406030204" pitchFamily="18" charset="0"/>
      <p:regular r:id="rId8"/>
    </p:embeddedFont>
    <p:embeddedFont>
      <p:font typeface="Comic Sans MS" panose="030F0702030302020204" pitchFamily="66" charset="0"/>
      <p:regular r:id="rId9"/>
      <p:bold r:id="rId10"/>
      <p:italic r:id="rId11"/>
      <p:boldItalic r:id="rId12"/>
    </p:embeddedFon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Playfair Display" panose="00000500000000000000" pitchFamily="2" charset="0"/>
      <p:regular r:id="rId17"/>
      <p:bold r:id="rId18"/>
      <p:italic r:id="rId19"/>
      <p:boldItalic r:id="rId20"/>
    </p:embeddedFont>
    <p:embeddedFont>
      <p:font typeface="Tahoma" panose="020B0604030504040204" pitchFamily="34" charset="0"/>
      <p:regular r:id="rId21"/>
      <p:bold r:id="rId22"/>
    </p:embeddedFont>
    <p:embeddedFont>
      <p:font typeface="Trebuchet MS" panose="020B060302020202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8" autoAdjust="0"/>
  </p:normalViewPr>
  <p:slideViewPr>
    <p:cSldViewPr snapToGrid="0">
      <p:cViewPr>
        <p:scale>
          <a:sx n="66" d="100"/>
          <a:sy n="66" d="100"/>
        </p:scale>
        <p:origin x="691" y="38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font" Target="fonts/font23.fntdata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viewProps" Target="viewProp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31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amurthy YC" userId="bf6a1185fec05998" providerId="LiveId" clId="{AED80743-3B51-4EE3-8F58-7A29A231DBBF}"/>
    <pc:docChg chg="undo custSel modSld">
      <pc:chgData name="Keshavamurthy YC" userId="bf6a1185fec05998" providerId="LiveId" clId="{AED80743-3B51-4EE3-8F58-7A29A231DBBF}" dt="2025-01-03T10:15:28.552" v="58"/>
      <pc:docMkLst>
        <pc:docMk/>
      </pc:docMkLst>
      <pc:sldChg chg="addSp delSp modSp mod">
        <pc:chgData name="Keshavamurthy YC" userId="bf6a1185fec05998" providerId="LiveId" clId="{AED80743-3B51-4EE3-8F58-7A29A231DBBF}" dt="2025-01-03T10:15:28.552" v="58"/>
        <pc:sldMkLst>
          <pc:docMk/>
          <pc:sldMk cId="0" sldId="256"/>
        </pc:sldMkLst>
        <pc:spChg chg="add mod">
          <ac:chgData name="Keshavamurthy YC" userId="bf6a1185fec05998" providerId="LiveId" clId="{AED80743-3B51-4EE3-8F58-7A29A231DBBF}" dt="2025-01-03T10:15:28.552" v="58"/>
          <ac:spMkLst>
            <pc:docMk/>
            <pc:sldMk cId="0" sldId="256"/>
            <ac:spMk id="9" creationId="{2F547D69-D0D0-C594-CD7F-F9B90CF1C02A}"/>
          </ac:spMkLst>
        </pc:spChg>
        <pc:spChg chg="del mod">
          <ac:chgData name="Keshavamurthy YC" userId="bf6a1185fec05998" providerId="LiveId" clId="{AED80743-3B51-4EE3-8F58-7A29A231DBBF}" dt="2025-01-03T10:14:11.877" v="3" actId="478"/>
          <ac:spMkLst>
            <pc:docMk/>
            <pc:sldMk cId="0" sldId="256"/>
            <ac:spMk id="10" creationId="{F5BD3962-3D08-292D-5F38-37E5A5B1CC5C}"/>
          </ac:spMkLst>
        </pc:spChg>
        <pc:spChg chg="mod">
          <ac:chgData name="Keshavamurthy YC" userId="bf6a1185fec05998" providerId="LiveId" clId="{AED80743-3B51-4EE3-8F58-7A29A231DBBF}" dt="2025-01-03T10:14:04.011" v="0" actId="1076"/>
          <ac:spMkLst>
            <pc:docMk/>
            <pc:sldMk cId="0" sldId="256"/>
            <ac:spMk id="13" creationId="{4D62BE2B-B35B-D625-2122-05FD6EFD4E3C}"/>
          </ac:spMkLst>
        </pc:spChg>
        <pc:spChg chg="mod">
          <ac:chgData name="Keshavamurthy YC" userId="bf6a1185fec05998" providerId="LiveId" clId="{AED80743-3B51-4EE3-8F58-7A29A231DBBF}" dt="2025-01-03T10:14:18.296" v="4" actId="1076"/>
          <ac:spMkLst>
            <pc:docMk/>
            <pc:sldMk cId="0" sldId="256"/>
            <ac:spMk id="174" creationId="{00000000-0000-0000-0000-000000000000}"/>
          </ac:spMkLst>
        </pc:spChg>
      </pc:sldChg>
    </pc:docChg>
  </pc:docChgLst>
  <pc:docChgLst>
    <pc:chgData name="Keshavamurthy YC" userId="bf6a1185fec05998" providerId="LiveId" clId="{DFF3F985-E1C4-4C93-9341-E6091D18B275}"/>
    <pc:docChg chg="undo custSel modSld">
      <pc:chgData name="Keshavamurthy YC" userId="bf6a1185fec05998" providerId="LiveId" clId="{DFF3F985-E1C4-4C93-9341-E6091D18B275}" dt="2024-07-03T07:33:03.824" v="78" actId="20577"/>
      <pc:docMkLst>
        <pc:docMk/>
      </pc:docMkLst>
      <pc:sldChg chg="modSp mod">
        <pc:chgData name="Keshavamurthy YC" userId="bf6a1185fec05998" providerId="LiveId" clId="{DFF3F985-E1C4-4C93-9341-E6091D18B275}" dt="2024-07-03T07:33:03.824" v="78" actId="20577"/>
        <pc:sldMkLst>
          <pc:docMk/>
          <pc:sldMk cId="0" sldId="256"/>
        </pc:sldMkLst>
      </pc:sldChg>
    </pc:docChg>
  </pc:docChgLst>
  <pc:docChgLst>
    <pc:chgData name="Keshavamurthy YC" userId="bf6a1185fec05998" providerId="LiveId" clId="{8355D0B3-71DD-40A6-96C8-8B12F51E2007}"/>
    <pc:docChg chg="undo custSel modSld">
      <pc:chgData name="Keshavamurthy YC" userId="bf6a1185fec05998" providerId="LiveId" clId="{8355D0B3-71DD-40A6-96C8-8B12F51E2007}" dt="2024-04-04T09:32:51.772" v="163" actId="14100"/>
      <pc:docMkLst>
        <pc:docMk/>
      </pc:docMkLst>
      <pc:sldChg chg="addSp delSp modSp mod">
        <pc:chgData name="Keshavamurthy YC" userId="bf6a1185fec05998" providerId="LiveId" clId="{8355D0B3-71DD-40A6-96C8-8B12F51E2007}" dt="2024-04-04T09:32:51.772" v="163" actId="1410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737270" y="2030099"/>
            <a:ext cx="7316458" cy="19230332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endParaRPr sz="1172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90"/>
            <a:ext cx="14935940" cy="1795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560059.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356052" y="665264"/>
            <a:ext cx="12120998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Title: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Gravity-Driven Mechanical Energy Storage for Renewable Integration</a:t>
            </a:r>
            <a:endParaRPr sz="2400" b="1" dirty="0">
              <a:solidFill>
                <a:schemeClr val="accent2">
                  <a:lumMod val="50000"/>
                </a:schemeClr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102291" y="1129289"/>
            <a:ext cx="9427544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Vijay S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Halagi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 | Aryan Lodha | Amith B | Shashank Joga</a:t>
            </a:r>
          </a:p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1RV24CH041 | 1RV24IM064 | 1RV24CV005 | 1RV24CV049 </a:t>
            </a:r>
            <a:endParaRPr sz="2000" dirty="0">
              <a:solidFill>
                <a:srgbClr val="975329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42752" y="1968997"/>
            <a:ext cx="7519803" cy="19230333"/>
            <a:chOff x="26374694" y="8524168"/>
            <a:chExt cx="17964396" cy="28277704"/>
          </a:xfrm>
        </p:grpSpPr>
        <p:sp>
          <p:nvSpPr>
            <p:cNvPr id="131" name="Google Shape;131;p1"/>
            <p:cNvSpPr/>
            <p:nvPr/>
          </p:nvSpPr>
          <p:spPr>
            <a:xfrm>
              <a:off x="26374694" y="8524168"/>
              <a:ext cx="17964396" cy="28277704"/>
            </a:xfrm>
            <a:prstGeom prst="roundRect">
              <a:avLst>
                <a:gd name="adj" fmla="val 2556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38271" tIns="19130" rIns="38271" bIns="19130" anchor="ctr" anchorCtr="0">
              <a:noAutofit/>
            </a:bodyPr>
            <a:lstStyle/>
            <a:p>
              <a:pPr>
                <a:buClr>
                  <a:schemeClr val="dk1"/>
                </a:buClr>
                <a:buSzPts val="3600"/>
              </a:pPr>
              <a:endParaRPr lang="en-IN" sz="1507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>
                <a:buClr>
                  <a:schemeClr val="dk1"/>
                </a:buClr>
                <a:buSzPts val="3600"/>
              </a:pPr>
              <a:r>
                <a:rPr lang="en-IN" sz="1507"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</a:t>
              </a:r>
              <a:endParaRPr sz="1507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0" name="Google Shape;150;p1"/>
            <p:cNvSpPr txBox="1"/>
            <p:nvPr/>
          </p:nvSpPr>
          <p:spPr>
            <a:xfrm>
              <a:off x="26650065" y="8699491"/>
              <a:ext cx="17344338" cy="494637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                           Introduction</a:t>
              </a:r>
              <a:endParaRPr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7956" y="16165421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213909" y="10920044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Methodology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801192" y="214534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Tools used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844921" y="9645125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Results and Discussions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870673" y="15799851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000" b="1" i="0" dirty="0">
                <a:effectLst/>
                <a:latin typeface="Söhne"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6549883-8540-6668-D479-B7068ACA60DE}"/>
              </a:ext>
            </a:extLst>
          </p:cNvPr>
          <p:cNvSpPr txBox="1"/>
          <p:nvPr/>
        </p:nvSpPr>
        <p:spPr>
          <a:xfrm>
            <a:off x="299159" y="8428447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Objectives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149;p1">
                <a:extLst>
                  <a:ext uri="{FF2B5EF4-FFF2-40B4-BE49-F238E27FC236}">
                    <a16:creationId xmlns:a16="http://schemas.microsoft.com/office/drawing/2014/main" id="{D84E6594-496A-649E-D408-EC8C95C89896}"/>
                  </a:ext>
                </a:extLst>
              </p:cNvPr>
              <p:cNvSpPr txBox="1"/>
              <p:nvPr/>
            </p:nvSpPr>
            <p:spPr>
              <a:xfrm>
                <a:off x="243483" y="2424605"/>
                <a:ext cx="7427537" cy="53384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8271" tIns="19130" rIns="38271" bIns="19130" anchor="t" anchorCtr="0">
                <a:spAutoFit/>
              </a:bodyPr>
              <a:lstStyle/>
              <a:p>
                <a:r>
                  <a:rPr lang="en-US" dirty="0">
                    <a:latin typeface="Bookman Old Style" panose="02050604050505020204" pitchFamily="18" charset="0"/>
                  </a:rPr>
                  <a:t>The rapid growth of renewable energy is limited by the lack of efficient and long-duration storage. </a:t>
                </a:r>
                <a:r>
                  <a:rPr lang="en-US" b="1" dirty="0">
                    <a:latin typeface="Bookman Old Style" panose="02050604050505020204" pitchFamily="18" charset="0"/>
                  </a:rPr>
                  <a:t>Conventional batteries </a:t>
                </a:r>
                <a:r>
                  <a:rPr lang="en-US" dirty="0">
                    <a:latin typeface="Bookman Old Style" panose="02050604050505020204" pitchFamily="18" charset="0"/>
                  </a:rPr>
                  <a:t>provide only </a:t>
                </a:r>
                <a:r>
                  <a:rPr lang="en-US" b="1" dirty="0">
                    <a:latin typeface="Bookman Old Style" panose="02050604050505020204" pitchFamily="18" charset="0"/>
                  </a:rPr>
                  <a:t>short-term storage </a:t>
                </a:r>
                <a:r>
                  <a:rPr lang="en-US" dirty="0">
                    <a:latin typeface="Bookman Old Style" panose="02050604050505020204" pitchFamily="18" charset="0"/>
                  </a:rPr>
                  <a:t>and degrade over time. Gravitational energy storage offers </a:t>
                </a:r>
                <a:r>
                  <a:rPr lang="en-US" b="1" dirty="0">
                    <a:latin typeface="Bookman Old Style" panose="02050604050505020204" pitchFamily="18" charset="0"/>
                  </a:rPr>
                  <a:t>a mechanical, safe</a:t>
                </a:r>
                <a:r>
                  <a:rPr lang="en-US" dirty="0">
                    <a:latin typeface="Bookman Old Style" panose="02050604050505020204" pitchFamily="18" charset="0"/>
                  </a:rPr>
                  <a:t>, and </a:t>
                </a:r>
                <a:r>
                  <a:rPr lang="en-US" b="1" dirty="0">
                    <a:latin typeface="Bookman Old Style" panose="02050604050505020204" pitchFamily="18" charset="0"/>
                  </a:rPr>
                  <a:t>eco-friendly</a:t>
                </a:r>
                <a:r>
                  <a:rPr lang="en-US" dirty="0">
                    <a:latin typeface="Bookman Old Style" panose="02050604050505020204" pitchFamily="18" charset="0"/>
                  </a:rPr>
                  <a:t> alternative by storing energy in the </a:t>
                </a:r>
                <a:r>
                  <a:rPr lang="en-US" b="1" dirty="0">
                    <a:latin typeface="Bookman Old Style" panose="02050604050505020204" pitchFamily="18" charset="0"/>
                  </a:rPr>
                  <a:t>form of lifted mass </a:t>
                </a:r>
                <a:r>
                  <a:rPr lang="en-US" dirty="0">
                    <a:latin typeface="Bookman Old Style" panose="02050604050505020204" pitchFamily="18" charset="0"/>
                  </a:rPr>
                  <a:t>and releasing it </a:t>
                </a:r>
                <a:r>
                  <a:rPr lang="en-US" b="1" dirty="0">
                    <a:latin typeface="Bookman Old Style" panose="02050604050505020204" pitchFamily="18" charset="0"/>
                  </a:rPr>
                  <a:t>during descent</a:t>
                </a:r>
                <a:r>
                  <a:rPr lang="en-US" dirty="0">
                    <a:latin typeface="Bookman Old Style" panose="02050604050505020204" pitchFamily="18" charset="0"/>
                  </a:rPr>
                  <a:t>. The working principle is based on</a:t>
                </a:r>
                <a:r>
                  <a:rPr lang="en-US" b="1" dirty="0">
                    <a:latin typeface="Bookman Old Style" panose="02050604050505020204" pitchFamily="18" charset="0"/>
                  </a:rPr>
                  <a:t> gravitational potential energy,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𝒎𝒈𝒉</m:t>
                      </m:r>
                    </m:oMath>
                  </m:oMathPara>
                </a14:m>
                <a:endParaRPr lang="en-US" b="1" dirty="0">
                  <a:latin typeface="Bookman Old Style" panose="02050604050505020204" pitchFamily="18" charset="0"/>
                </a:endParaRPr>
              </a:p>
              <a:p>
                <a:r>
                  <a:rPr lang="en-US" dirty="0">
                    <a:latin typeface="Bookman Old Style" panose="02050604050505020204" pitchFamily="18" charset="0"/>
                  </a:rPr>
                  <a:t>where energy is stored when a mass is raised and converted into electrical energy during controlled lowering. This project demonstrates a compact gravity-based energy storage prototype for sustainable renewable integration.</a:t>
                </a:r>
              </a:p>
              <a:p>
                <a:pPr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</a:endParaRPr>
              </a:p>
              <a:p>
                <a:pPr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</a:endParaRPr>
              </a:p>
              <a:p>
                <a:pPr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</a:endParaRPr>
              </a:p>
              <a:p>
                <a:pPr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</a:endParaRPr>
              </a:p>
              <a:p>
                <a:pPr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/>
              </a:p>
            </p:txBody>
          </p:sp>
        </mc:Choice>
        <mc:Fallback>
          <p:sp>
            <p:nvSpPr>
              <p:cNvPr id="3" name="Google Shape;149;p1">
                <a:extLst>
                  <a:ext uri="{FF2B5EF4-FFF2-40B4-BE49-F238E27FC236}">
                    <a16:creationId xmlns:a16="http://schemas.microsoft.com/office/drawing/2014/main" id="{D84E6594-496A-649E-D408-EC8C95C89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83" y="2424605"/>
                <a:ext cx="7427537" cy="5338452"/>
              </a:xfrm>
              <a:prstGeom prst="rect">
                <a:avLst/>
              </a:prstGeom>
              <a:blipFill>
                <a:blip r:embed="rId3"/>
                <a:stretch>
                  <a:fillRect l="-1396" t="-1029" r="-9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150;p1">
            <a:extLst>
              <a:ext uri="{FF2B5EF4-FFF2-40B4-BE49-F238E27FC236}">
                <a16:creationId xmlns:a16="http://schemas.microsoft.com/office/drawing/2014/main" id="{6F6964B9-9CEB-4BB5-CA66-443F445C218E}"/>
              </a:ext>
            </a:extLst>
          </p:cNvPr>
          <p:cNvSpPr txBox="1"/>
          <p:nvPr/>
        </p:nvSpPr>
        <p:spPr>
          <a:xfrm>
            <a:off x="243483" y="5463704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Problem Definition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5" name="Google Shape;149;p1">
            <a:extLst>
              <a:ext uri="{FF2B5EF4-FFF2-40B4-BE49-F238E27FC236}">
                <a16:creationId xmlns:a16="http://schemas.microsoft.com/office/drawing/2014/main" id="{0AD56C33-8595-63E3-6908-627CBDAC131B}"/>
              </a:ext>
            </a:extLst>
          </p:cNvPr>
          <p:cNvSpPr txBox="1"/>
          <p:nvPr/>
        </p:nvSpPr>
        <p:spPr>
          <a:xfrm>
            <a:off x="294196" y="5816068"/>
            <a:ext cx="7260250" cy="44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Renewable sources like solar and wind are:</a:t>
            </a:r>
          </a:p>
          <a:p>
            <a:r>
              <a:rPr lang="en-US" b="1" dirty="0">
                <a:latin typeface="Bookman Old Style" panose="02050604050505020204" pitchFamily="18" charset="0"/>
              </a:rPr>
              <a:t>-</a:t>
            </a:r>
            <a:r>
              <a:rPr lang="en-US" dirty="0">
                <a:latin typeface="Bookman Old Style" panose="02050604050505020204" pitchFamily="18" charset="0"/>
              </a:rPr>
              <a:t>Unpredictable   </a:t>
            </a:r>
            <a:r>
              <a:rPr lang="en-US" b="1" dirty="0">
                <a:latin typeface="Bookman Old Style" panose="02050604050505020204" pitchFamily="18" charset="0"/>
              </a:rPr>
              <a:t>-</a:t>
            </a:r>
            <a:r>
              <a:rPr lang="en-US" dirty="0">
                <a:latin typeface="Bookman Old Style" panose="02050604050505020204" pitchFamily="18" charset="0"/>
              </a:rPr>
              <a:t>Intermittent   </a:t>
            </a:r>
            <a:r>
              <a:rPr lang="en-US" b="1" dirty="0">
                <a:latin typeface="Bookman Old Style" panose="02050604050505020204" pitchFamily="18" charset="0"/>
              </a:rPr>
              <a:t> -</a:t>
            </a:r>
            <a:r>
              <a:rPr lang="en-US" dirty="0">
                <a:latin typeface="Bookman Old Style" panose="02050604050505020204" pitchFamily="18" charset="0"/>
              </a:rPr>
              <a:t>Mismatched with demand patterns</a:t>
            </a:r>
          </a:p>
          <a:p>
            <a:r>
              <a:rPr lang="en-US" dirty="0">
                <a:latin typeface="Bookman Old Style" panose="02050604050505020204" pitchFamily="18" charset="0"/>
              </a:rPr>
              <a:t>Due to insufficient storage:</a:t>
            </a:r>
          </a:p>
          <a:p>
            <a:r>
              <a:rPr lang="en-US" b="1" dirty="0">
                <a:latin typeface="Bookman Old Style" panose="02050604050505020204" pitchFamily="18" charset="0"/>
              </a:rPr>
              <a:t>70% of global renewable curtailment</a:t>
            </a:r>
            <a:r>
              <a:rPr lang="en-US" dirty="0">
                <a:latin typeface="Bookman Old Style" panose="02050604050505020204" pitchFamily="18" charset="0"/>
              </a:rPr>
              <a:t> occurs</a:t>
            </a:r>
          </a:p>
          <a:p>
            <a:r>
              <a:rPr lang="en-US" dirty="0">
                <a:latin typeface="Bookman Old Style" panose="02050604050505020204" pitchFamily="18" charset="0"/>
              </a:rPr>
              <a:t>Coal plants still operate 24×7 for grid stability</a:t>
            </a:r>
          </a:p>
          <a:p>
            <a:r>
              <a:rPr lang="en-US" b="1" dirty="0">
                <a:latin typeface="Bookman Old Style" panose="02050604050505020204" pitchFamily="18" charset="0"/>
              </a:rPr>
              <a:t>Problem Statement:</a:t>
            </a:r>
            <a:br>
              <a:rPr lang="en-US" dirty="0">
                <a:latin typeface="Bookman Old Style" panose="02050604050505020204" pitchFamily="18" charset="0"/>
              </a:rPr>
            </a:br>
            <a:r>
              <a:rPr lang="en-US" dirty="0">
                <a:latin typeface="Bookman Old Style" panose="02050604050505020204" pitchFamily="18" charset="0"/>
              </a:rPr>
              <a:t>How can we develop a </a:t>
            </a:r>
            <a:r>
              <a:rPr lang="en-US" b="1" dirty="0">
                <a:latin typeface="Bookman Old Style" panose="02050604050505020204" pitchFamily="18" charset="0"/>
              </a:rPr>
              <a:t>low-cost, safe, and long-life energy storage system</a:t>
            </a:r>
            <a:r>
              <a:rPr lang="en-US" dirty="0">
                <a:latin typeface="Bookman Old Style" panose="02050604050505020204" pitchFamily="18" charset="0"/>
              </a:rPr>
              <a:t> to support renewable energy integration?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6" name="Google Shape;149;p1">
            <a:extLst>
              <a:ext uri="{FF2B5EF4-FFF2-40B4-BE49-F238E27FC236}">
                <a16:creationId xmlns:a16="http://schemas.microsoft.com/office/drawing/2014/main" id="{56905CA1-27BD-5110-F126-0953ACA80AB4}"/>
              </a:ext>
            </a:extLst>
          </p:cNvPr>
          <p:cNvSpPr txBox="1"/>
          <p:nvPr/>
        </p:nvSpPr>
        <p:spPr>
          <a:xfrm>
            <a:off x="325176" y="16222044"/>
            <a:ext cx="7341611" cy="53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The process starts with </a:t>
            </a:r>
            <a:r>
              <a:rPr lang="en-US" b="1" dirty="0">
                <a:latin typeface="Bookman Old Style" panose="02050604050505020204" pitchFamily="18" charset="0"/>
              </a:rPr>
              <a:t>system design </a:t>
            </a:r>
            <a:r>
              <a:rPr lang="en-US" dirty="0">
                <a:latin typeface="Bookman Old Style" panose="02050604050505020204" pitchFamily="18" charset="0"/>
              </a:rPr>
              <a:t>and </a:t>
            </a:r>
            <a:r>
              <a:rPr lang="en-US" b="1" dirty="0">
                <a:latin typeface="Bookman Old Style" panose="02050604050505020204" pitchFamily="18" charset="0"/>
              </a:rPr>
              <a:t>component selection </a:t>
            </a:r>
            <a:r>
              <a:rPr lang="en-US" dirty="0">
                <a:latin typeface="Bookman Old Style" panose="02050604050505020204" pitchFamily="18" charset="0"/>
              </a:rPr>
              <a:t>to ensure </a:t>
            </a:r>
            <a:r>
              <a:rPr lang="en-US" b="1" dirty="0">
                <a:latin typeface="Bookman Old Style" panose="02050604050505020204" pitchFamily="18" charset="0"/>
              </a:rPr>
              <a:t>mechanical stability and electrical compatibility</a:t>
            </a:r>
            <a:r>
              <a:rPr lang="en-US" dirty="0">
                <a:latin typeface="Bookman Old Style" panose="02050604050505020204" pitchFamily="18" charset="0"/>
              </a:rPr>
              <a:t>. A solar panel supplies power to a DC motor, which lifts a </a:t>
            </a:r>
            <a:r>
              <a:rPr lang="en-US" b="1" dirty="0">
                <a:latin typeface="Bookman Old Style" panose="02050604050505020204" pitchFamily="18" charset="0"/>
              </a:rPr>
              <a:t>mass vertically </a:t>
            </a:r>
            <a:r>
              <a:rPr lang="en-US" dirty="0">
                <a:latin typeface="Bookman Old Style" panose="02050604050505020204" pitchFamily="18" charset="0"/>
              </a:rPr>
              <a:t>and stores energy in the form of </a:t>
            </a:r>
            <a:r>
              <a:rPr lang="en-US" b="1" dirty="0">
                <a:latin typeface="Bookman Old Style" panose="02050604050505020204" pitchFamily="18" charset="0"/>
              </a:rPr>
              <a:t>gravitational potential energy</a:t>
            </a:r>
            <a:r>
              <a:rPr lang="en-US" dirty="0">
                <a:latin typeface="Bookman Old Style" panose="02050604050505020204" pitchFamily="18" charset="0"/>
              </a:rPr>
              <a:t>.</a:t>
            </a:r>
          </a:p>
          <a:p>
            <a:r>
              <a:rPr lang="en-US" dirty="0">
                <a:latin typeface="Bookman Old Style" panose="02050604050505020204" pitchFamily="18" charset="0"/>
              </a:rPr>
              <a:t>Once the mass reaches the top position, </a:t>
            </a:r>
            <a:r>
              <a:rPr lang="en-US" b="1" dirty="0">
                <a:latin typeface="Bookman Old Style" panose="02050604050505020204" pitchFamily="18" charset="0"/>
              </a:rPr>
              <a:t>a shaft-locking mechanism </a:t>
            </a:r>
            <a:r>
              <a:rPr lang="en-US" dirty="0">
                <a:latin typeface="Bookman Old Style" panose="02050604050505020204" pitchFamily="18" charset="0"/>
              </a:rPr>
              <a:t>operated by a </a:t>
            </a:r>
            <a:r>
              <a:rPr lang="en-US" b="1" dirty="0">
                <a:latin typeface="Bookman Old Style" panose="02050604050505020204" pitchFamily="18" charset="0"/>
              </a:rPr>
              <a:t>stepper motor </a:t>
            </a:r>
            <a:r>
              <a:rPr lang="en-US" dirty="0">
                <a:latin typeface="Bookman Old Style" panose="02050604050505020204" pitchFamily="18" charset="0"/>
              </a:rPr>
              <a:t>holds it securely, preventing energy loss. During the discharge phase, the lock is released and </a:t>
            </a:r>
            <a:r>
              <a:rPr lang="en-US" b="1" dirty="0">
                <a:latin typeface="Bookman Old Style" panose="02050604050505020204" pitchFamily="18" charset="0"/>
              </a:rPr>
              <a:t>the mass descends in a controlled manner.</a:t>
            </a:r>
          </a:p>
          <a:p>
            <a:r>
              <a:rPr lang="en-US" dirty="0">
                <a:latin typeface="Bookman Old Style" panose="02050604050505020204" pitchFamily="18" charset="0"/>
              </a:rPr>
              <a:t>During descent, the same motor acts as a generator, converting mechanical energy into electrical energy. The generated voltage and current are measured in real time using </a:t>
            </a:r>
            <a:r>
              <a:rPr lang="en-US" b="1" dirty="0">
                <a:latin typeface="Bookman Old Style" panose="02050604050505020204" pitchFamily="18" charset="0"/>
              </a:rPr>
              <a:t>an INA219 sensor interfaced with an Arduino</a:t>
            </a:r>
            <a:r>
              <a:rPr lang="en-US" dirty="0">
                <a:latin typeface="Bookman Old Style" panose="02050604050505020204" pitchFamily="18" charset="0"/>
              </a:rPr>
              <a:t>.</a:t>
            </a:r>
          </a:p>
          <a:p>
            <a:r>
              <a:rPr lang="en-US" b="1" dirty="0">
                <a:latin typeface="Bookman Old Style" panose="02050604050505020204" pitchFamily="18" charset="0"/>
              </a:rPr>
              <a:t>Power and efficiency are calculated </a:t>
            </a:r>
            <a:r>
              <a:rPr lang="en-US" dirty="0">
                <a:latin typeface="Bookman Old Style" panose="02050604050505020204" pitchFamily="18" charset="0"/>
              </a:rPr>
              <a:t>from the measured values. The experiment is repeated by </a:t>
            </a:r>
            <a:r>
              <a:rPr lang="en-US" b="1" dirty="0">
                <a:latin typeface="Bookman Old Style" panose="02050604050505020204" pitchFamily="18" charset="0"/>
              </a:rPr>
              <a:t>varying the mass</a:t>
            </a:r>
            <a:r>
              <a:rPr lang="en-US" dirty="0">
                <a:latin typeface="Bookman Old Style" panose="02050604050505020204" pitchFamily="18" charset="0"/>
              </a:rPr>
              <a:t>, and performance trends are analyzed. From these trials, the </a:t>
            </a:r>
            <a:r>
              <a:rPr lang="en-US" b="1" dirty="0">
                <a:latin typeface="Bookman Old Style" panose="02050604050505020204" pitchFamily="18" charset="0"/>
              </a:rPr>
              <a:t>optimum operating mass </a:t>
            </a:r>
            <a:r>
              <a:rPr lang="en-US" dirty="0">
                <a:latin typeface="Bookman Old Style" panose="02050604050505020204" pitchFamily="18" charset="0"/>
              </a:rPr>
              <a:t>that delivers </a:t>
            </a:r>
            <a:r>
              <a:rPr lang="en-US" b="1" dirty="0">
                <a:latin typeface="Bookman Old Style" panose="02050604050505020204" pitchFamily="18" charset="0"/>
              </a:rPr>
              <a:t>maximum power and efficiency </a:t>
            </a:r>
            <a:r>
              <a:rPr lang="en-US" dirty="0">
                <a:latin typeface="Bookman Old Style" panose="02050604050505020204" pitchFamily="18" charset="0"/>
              </a:rPr>
              <a:t>is identified.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7" name="Google Shape;149;p1">
            <a:extLst>
              <a:ext uri="{FF2B5EF4-FFF2-40B4-BE49-F238E27FC236}">
                <a16:creationId xmlns:a16="http://schemas.microsoft.com/office/drawing/2014/main" id="{ECCC3B4A-9606-90BB-BB04-2AC50E455D9E}"/>
              </a:ext>
            </a:extLst>
          </p:cNvPr>
          <p:cNvSpPr txBox="1"/>
          <p:nvPr/>
        </p:nvSpPr>
        <p:spPr>
          <a:xfrm>
            <a:off x="8590450" y="4037910"/>
            <a:ext cx="7008020" cy="336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pic>
        <p:nvPicPr>
          <p:cNvPr id="11" name="Picture 2" descr="May be an image of text that says &quot;R RASHTREEYA R SIKSHANA SAMITHI SAMAITHI V TRUST INSTITUTIONS&quot;">
            <a:extLst>
              <a:ext uri="{FF2B5EF4-FFF2-40B4-BE49-F238E27FC236}">
                <a16:creationId xmlns:a16="http://schemas.microsoft.com/office/drawing/2014/main" id="{7C2EFEC0-42F0-B598-C59C-701CF1C9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C3C138E0-EC15-F332-8FAA-6F2D3C197756}"/>
              </a:ext>
            </a:extLst>
          </p:cNvPr>
          <p:cNvSpPr txBox="1"/>
          <p:nvPr/>
        </p:nvSpPr>
        <p:spPr>
          <a:xfrm>
            <a:off x="10275098" y="1089950"/>
            <a:ext cx="4950724" cy="7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990000"/>
              </a:buClr>
              <a:buSzPts val="6000"/>
            </a:pPr>
            <a: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Theme: Environmental Engineering and Sustainability</a:t>
            </a:r>
            <a:endParaRPr sz="2200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3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855388" y="12707648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Conclusions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9" name="Google Shape;174;p1">
            <a:extLst>
              <a:ext uri="{FF2B5EF4-FFF2-40B4-BE49-F238E27FC236}">
                <a16:creationId xmlns:a16="http://schemas.microsoft.com/office/drawing/2014/main" id="{2F547D69-D0D0-C594-CD7F-F9B90CF1C02A}"/>
              </a:ext>
            </a:extLst>
          </p:cNvPr>
          <p:cNvSpPr txBox="1"/>
          <p:nvPr/>
        </p:nvSpPr>
        <p:spPr>
          <a:xfrm>
            <a:off x="7870672" y="18985706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US" sz="2000" b="1" i="0" dirty="0">
                <a:effectLst/>
                <a:latin typeface="Söhne"/>
              </a:rPr>
              <a:t>QR Code of the Demonstration Video</a:t>
            </a:r>
            <a:endParaRPr lang="en-IN" sz="2000" b="1" i="0" dirty="0">
              <a:effectLst/>
              <a:latin typeface="Söhne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2A70E4-23E6-739C-566A-DC0F46E45AC8}"/>
              </a:ext>
            </a:extLst>
          </p:cNvPr>
          <p:cNvSpPr txBox="1"/>
          <p:nvPr/>
        </p:nvSpPr>
        <p:spPr>
          <a:xfrm>
            <a:off x="299159" y="8750556"/>
            <a:ext cx="7312014" cy="2089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4" name="Google Shape;149;p1"/>
          <p:cNvSpPr txBox="1"/>
          <p:nvPr/>
        </p:nvSpPr>
        <p:spPr>
          <a:xfrm>
            <a:off x="350871" y="8838720"/>
            <a:ext cx="7096586" cy="19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85750" lvl="0" indent="-285750" algn="just"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Design and Build a </a:t>
            </a:r>
            <a:r>
              <a:rPr lang="en-US" b="1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gravity-based mechanical energy storage prototype</a:t>
            </a:r>
          </a:p>
          <a:p>
            <a:pPr marL="285750" lvl="0" indent="-285750" algn="just"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Study the effect of </a:t>
            </a:r>
            <a:r>
              <a:rPr lang="en-US" b="1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mass on current, power, efficiency</a:t>
            </a:r>
          </a:p>
          <a:p>
            <a:pPr marL="285750" lvl="0" indent="-285750" algn="just"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Identify </a:t>
            </a:r>
            <a:r>
              <a:rPr lang="en-US" b="1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optimum operating mass</a:t>
            </a:r>
          </a:p>
          <a:p>
            <a:pPr marL="285750" lvl="0" indent="-285750" algn="just"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Measure </a:t>
            </a:r>
            <a:r>
              <a:rPr lang="en-US" b="1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real-time voltage &amp; current using Arduino</a:t>
            </a:r>
          </a:p>
          <a:p>
            <a:pPr marL="285750" lvl="0" indent="-285750" algn="just"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Analyze </a:t>
            </a:r>
            <a:r>
              <a:rPr lang="en-US" b="1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energy losses</a:t>
            </a:r>
          </a:p>
          <a:p>
            <a:pPr marL="285750" lvl="0" indent="-285750" algn="just"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Validate gravity storage as a </a:t>
            </a:r>
            <a:r>
              <a:rPr lang="en-US" b="1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sustainable alternative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F26F04B-F82B-57DB-E9C5-A40350AFC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38" y="11342474"/>
            <a:ext cx="7319384" cy="4876311"/>
          </a:xfrm>
          <a:prstGeom prst="rect">
            <a:avLst/>
          </a:prstGeom>
        </p:spPr>
      </p:pic>
      <p:sp>
        <p:nvSpPr>
          <p:cNvPr id="62" name="Rectangle 43">
            <a:extLst>
              <a:ext uri="{FF2B5EF4-FFF2-40B4-BE49-F238E27FC236}">
                <a16:creationId xmlns:a16="http://schemas.microsoft.com/office/drawing/2014/main" id="{A18502E3-792F-DA26-E5D5-E172DDC5DD6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70674" y="10029955"/>
            <a:ext cx="679552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Working gravity energy storage prototype developed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Electrical energy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generated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during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controlled descent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Optimum operating mass ≈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1.0 kg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Peak values obtained: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Current ≈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0.72 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Power ≈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0.74 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Efficiency ≈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17.9%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Clear trends observed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mass, power &amp;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Losses due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friction, heat, and mechanical limits</a:t>
            </a:r>
          </a:p>
        </p:txBody>
      </p:sp>
      <p:sp>
        <p:nvSpPr>
          <p:cNvPr id="63" name="Rectangle 44">
            <a:extLst>
              <a:ext uri="{FF2B5EF4-FFF2-40B4-BE49-F238E27FC236}">
                <a16:creationId xmlns:a16="http://schemas.microsoft.com/office/drawing/2014/main" id="{220DCFB0-DCDE-9BED-F520-F3C5EBC62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4922" y="12997104"/>
            <a:ext cx="713167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Gravity-based storage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technically viable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System performance strongly depends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mass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At small scale, losses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dominate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At larger scale,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efficiency will improve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significantly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Mechanical storage offers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Long life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Low maintenance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Environmental safety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 Gravity storage is a promising solution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24/7 renewable grids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FB7DC358-29FA-28D0-65E4-9290AF442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466" y="2461094"/>
            <a:ext cx="7009725" cy="7066625"/>
          </a:xfrm>
          <a:prstGeom prst="rect">
            <a:avLst/>
          </a:prstGeom>
        </p:spPr>
      </p:pic>
      <p:sp>
        <p:nvSpPr>
          <p:cNvPr id="67" name="Rectangle 45">
            <a:extLst>
              <a:ext uri="{FF2B5EF4-FFF2-40B4-BE49-F238E27FC236}">
                <a16:creationId xmlns:a16="http://schemas.microsoft.com/office/drawing/2014/main" id="{E0B1BB74-846A-F063-C31F-7565EB926E9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792648" y="16123692"/>
            <a:ext cx="747437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International Energy Agency (IEA),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World Energy Outlook 2023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, Paris, France.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International Renewable Energy Agency (IRENA),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World Energy Transitions Outlook 2023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Tong et al., “Solid Gravity Energy Storage: A Review,”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Energy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, 2022.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Hunt et al., “Underground Gravity Energy Storage,”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Energies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,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United Nations,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Sustainable Development Goal 7 – Affordable and Clean Energy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  <p:sp>
        <p:nvSpPr>
          <p:cNvPr id="70" name="Rectangle 48" hidden="1">
            <a:extLst>
              <a:ext uri="{FF2B5EF4-FFF2-40B4-BE49-F238E27FC236}">
                <a16:creationId xmlns:a16="http://schemas.microsoft.com/office/drawing/2014/main" id="{D8EA3AE9-C772-77AB-97B6-86EF8539B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5119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and repeatable energy generation observed during every descent cycle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increased with mass up to an optimum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performance obtained at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 ≈ 1 kg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values achieved: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Imax⁡≈0.72 A,Pmax⁡≈0.74 W,ηmax⁡≈17.9%I_{\max} \approx 0.72\ \text{A}, \quad P_{\max} \approx 0.74\ \text{W}, \quad \eta_{\max} \approx 17.9\%Imax​≈0.72 A,Pmax​≈0.74 W,ηmax​≈17.9%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Beyond the optimum mass, performance reduced due to frictional and mechanical losses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sensing using Arduino + INA219 validated system behavior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9CF9373F-21A4-3ECA-A5DF-5A6E0D241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9791" y="19371455"/>
            <a:ext cx="1444734" cy="17943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516</TotalTime>
  <Words>738</Words>
  <Application>Microsoft Office PowerPoint</Application>
  <PresentationFormat>Custom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Söhne</vt:lpstr>
      <vt:lpstr>Bookman Old Style</vt:lpstr>
      <vt:lpstr>Tahoma</vt:lpstr>
      <vt:lpstr>Cambria Math</vt:lpstr>
      <vt:lpstr>Comic Sans MS</vt:lpstr>
      <vt:lpstr>Playfair Display</vt:lpstr>
      <vt:lpstr>Calibri</vt:lpstr>
      <vt:lpstr>Calibri Light</vt:lpstr>
      <vt:lpstr>Arial</vt:lpstr>
      <vt:lpstr>Georgia</vt:lpstr>
      <vt:lpstr>Trebuchet MS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aryannlodha@gmail.com</cp:lastModifiedBy>
  <cp:revision>25</cp:revision>
  <cp:lastPrinted>2024-01-29T05:31:42Z</cp:lastPrinted>
  <dcterms:created xsi:type="dcterms:W3CDTF">2020-07-26T16:54:19Z</dcterms:created>
  <dcterms:modified xsi:type="dcterms:W3CDTF">2026-01-21T20:35:45Z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